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9" r:id="rId2"/>
    <p:sldId id="260" r:id="rId3"/>
    <p:sldId id="261" r:id="rId4"/>
    <p:sldId id="262" r:id="rId5"/>
    <p:sldId id="263" r:id="rId6"/>
    <p:sldId id="256" r:id="rId7"/>
    <p:sldId id="257" r:id="rId8"/>
    <p:sldId id="258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>
        <p:scale>
          <a:sx n="100" d="100"/>
          <a:sy n="100" d="100"/>
        </p:scale>
        <p:origin x="1320" y="2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2D4606-A149-4551-84EE-54B2755AE889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49CDDF-5849-475B-8FE8-CAF368895B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94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curvature-gossip\scripts\plot_multi_vaoi_vs_transmissions.py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49CDDF-5849-475B-8FE8-CAF368895B88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0630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EDC19-265D-8EA2-4C55-09CB369FE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09514C-2DF8-BE17-F0B4-74DDC46FF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05C0DD3-5DFA-E4AE-AADE-1DBFD5B9B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curvature-gossip\scripts\plot_multi_vaoi_vs_transmissions.py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7942B5F-0C36-D719-981A-5BC81C9703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49CDDF-5849-475B-8FE8-CAF368895B88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2766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957557-4A74-D9D9-60AA-021F576379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3593381-0407-B182-7BC1-DE997CC02F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B5DC17-7CE0-7D72-4720-6E6F54970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23482B-B895-25F2-DC50-39F2E7F63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D44E1A1-D962-9E58-67EC-D501BABB2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6809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2E0D38-0894-6304-55F2-ED9AE9CEA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6DE406-D08C-10FC-5243-14F027A0B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563881-AB56-DA67-F14E-D2673E6EF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F2ED632-0F83-620E-4FDD-92D2CCE1D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32B2C4-5145-72CA-74F0-C704F063C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3171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6C30F2-C3CA-D9B2-2D4C-30B7D602F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BA1604D-2DC6-A0F6-D724-CE4774BF96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9D7FDCF-E1BA-B8EE-7EDA-9C1407479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C38B6C-00A8-3DE4-F306-5D1B67501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489966-E498-2A94-FB9F-599638B1F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830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EF397-11D6-6967-FE4E-9A3735A5F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237744-80E3-CBA6-79D5-F26DF0F757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5A88525-439E-5444-6EDC-6F2F76DDEF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AB8496F-67DE-B13F-C617-E637E0891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696737-B7AE-42E6-1608-3B141F9F4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4CF8E80-7648-8F1E-0FB4-745BD354E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8662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7BB166-E0C5-BA9C-ABFD-6CDB58B9E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B26301-7BBA-BF57-C7EA-38D2C66F74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62AE876-4A6F-D688-4BAD-4F1C1C3B99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1CE74C8-A512-75C0-AECF-5492856113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055BD4-DBF9-749A-9CA1-D94441A6C9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14B7921-55FA-CE19-4B7F-724CAC575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D1F4CD6-87E9-B5B1-9E0D-2045EA0EB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C2C9E78-CCD0-0EE9-7247-E36D2349A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61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698B10-C903-86F2-AB66-F8791BB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8A0AF25-9F11-8F45-F955-49CD7A008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D53036C-2158-17A0-2F05-4BFF009C0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787AD8D-CA44-7402-CD2D-96FA96E08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6748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2F3C3F8-C206-5109-8DA3-1B7AF5A8C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A13C003-62BB-B02D-2CAE-81CBB6422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83B3C45-4A4D-A265-51BF-78ED5F75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375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4A99AF-5A88-6990-1277-ACB06384D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2ADB32-47C3-C84A-F526-389293E64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CB309B2-8116-9B5A-342B-1EFAF294C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6487293-60D3-F597-8298-B92B5EAF5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FBCBF18-B13C-93DD-3BEC-6CE5C8AA4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4E820EC-FB7F-C17D-C261-130FED34C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8875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826EA9-8C77-D931-E0E6-B5717D950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1E91146-0E68-A7CC-7CB9-2B90452542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B169446-E79D-1DCF-78A5-09686754B0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E7A6B57-8B29-0A83-9342-C0B1608F5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39F1C06-AABF-0C29-6DC0-0E7D56787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04828AC-9851-257A-30EB-10F592A4C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79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C737F1-66FA-EC6B-C5C2-77F2C7F1F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BD97CC5-4184-D39F-9597-7A1C1DFD3D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F7FEDC-5F65-3D09-C6FA-DB177545A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5C1A5F-B803-49C1-EDB7-DB056F22F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63A579-FDFF-E3A5-E1A2-4A769893B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637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04C485A-9C19-00EB-07F6-2BBF04C2B3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C1C3CC-8B90-394D-98BF-5F137C7516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EAD0225-8D7D-3A54-EDEC-04C602414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42E1-4ABA-40AE-AFC6-AEEA76844A86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9ED919-9EB1-EC2D-83C4-985111B68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54B5462-9BC6-85FD-BCB4-3C232F3BD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44093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430365-8F4B-1EC9-01B8-101DDFFB3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23328B9-6A72-FFFB-B109-4C0CD884BF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56D85D-9068-8A55-9786-CB67922660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942E1-4ABA-40AE-AFC6-AEEA76844A86}" type="datetimeFigureOut">
              <a:rPr lang="zh-CN" altLang="en-US" smtClean="0"/>
              <a:t>2026/7/15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895A74-D12A-E532-321B-6D31B9ADAF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BBEB80-7296-D243-42F3-F99FF34EFD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CCB0A-5E84-49DC-99B5-DC96147790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6236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46AB2A97-00A1-B9DE-982D-C0B5E89726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85" t="20854" r="22314" b="25401"/>
          <a:stretch>
            <a:fillRect/>
          </a:stretch>
        </p:blipFill>
        <p:spPr>
          <a:xfrm>
            <a:off x="7512263" y="418367"/>
            <a:ext cx="3896389" cy="249023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A9368E3-1A8F-7D23-F810-C92236D845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793"/>
          <a:stretch>
            <a:fillRect/>
          </a:stretch>
        </p:blipFill>
        <p:spPr>
          <a:xfrm>
            <a:off x="11495603" y="205742"/>
            <a:ext cx="596385" cy="320754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70939B9-A9EA-2EE6-E745-5AC804AA6BC2}"/>
                  </a:ext>
                </a:extLst>
              </p:cNvPr>
              <p:cNvSpPr txBox="1"/>
              <p:nvPr/>
            </p:nvSpPr>
            <p:spPr>
              <a:xfrm>
                <a:off x="287606" y="301803"/>
                <a:ext cx="8770669" cy="28543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启发式节点分布式广播概率计算：</a:t>
                </a:r>
                <a:endParaRPr lang="en-US" altLang="zh-CN" sz="24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、对邻居的新鲜度优化估计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x-IV_mathan" altLang="zh-CN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x-IV_mathan" altLang="zh-CN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func>
                          <m:func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x-IV_mathan" altLang="zh-CN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x-IV_mathan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0,</m:t>
                                </m:r>
                                <m:sSub>
                                  <m:sSubPr>
                                    <m:ctrlPr>
                                      <a:rPr lang="x-IV_matha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x-IV_mathan" altLang="zh-CN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x-IV_mathan" altLang="zh-CN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x-IV_matha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x-IV_mathan" altLang="zh-CN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x-IV_matha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x-IV_mathan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x-IV_mathan" altLang="zh-CN">
                                            <a:latin typeface="Cambria Math" panose="02040503050406030204" pitchFamily="18" charset="0"/>
                                          </a:rPr>
                                          <m:t>𝑉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x-IV_mathan" altLang="zh-CN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x-IV_mathan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x-IV_mathan" altLang="zh-CN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x-IV_matha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x-IV_mathan" altLang="zh-CN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e>
                    </m:nary>
                  </m:oMath>
                </a14:m>
                <a:b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、曲率 → 瓶颈权重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= </m:t>
                    </m:r>
                    <m:func>
                      <m:funcPr>
                        <m:ctrlPr>
                          <a:rPr lang="x-IV_mathan" altLang="zh-CN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x-IV_mathan" altLang="zh-CN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x-IV_mathan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b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</m:func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/</m:t>
                    </m:r>
                    <m:func>
                      <m:funcPr>
                        <m:ctrlPr>
                          <a:rPr lang="x-IV_mathan" altLang="zh-CN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x-IV_mathan" altLang="zh-CN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lim>
                        </m:limLow>
                      </m:fName>
                      <m:e>
                        <m:d>
                          <m:dPr>
                            <m:ctrlPr>
                              <a:rPr lang="x-IV_mathan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x-IV_mathan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x-IV_mathan" altLang="zh-CN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  <m:r>
                              <a:rPr lang="x-IV_mathan" altLang="zh-CN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</m:func>
                  </m:oMath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、距离上一次广播的间隔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𝜏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4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、基于信道拥塞的退避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5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、基于连续广播次数的退避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70939B9-A9EA-2EE6-E745-5AC804AA6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606" y="301803"/>
                <a:ext cx="8770669" cy="2854308"/>
              </a:xfrm>
              <a:prstGeom prst="rect">
                <a:avLst/>
              </a:prstGeom>
              <a:blipFill>
                <a:blip r:embed="rId3"/>
                <a:stretch>
                  <a:fillRect l="-1042" t="-1709" b="-25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图片 8">
            <a:extLst>
              <a:ext uri="{FF2B5EF4-FFF2-40B4-BE49-F238E27FC236}">
                <a16:creationId xmlns:a16="http://schemas.microsoft.com/office/drawing/2014/main" id="{C31C4BB4-8D1A-C607-8A7C-FD4B662259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3305" y="2831616"/>
            <a:ext cx="3661053" cy="242777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B5AC662-181C-B60B-0AFA-5140332B291F}"/>
                  </a:ext>
                </a:extLst>
              </p:cNvPr>
              <p:cNvSpPr txBox="1"/>
              <p:nvPr/>
            </p:nvSpPr>
            <p:spPr>
              <a:xfrm>
                <a:off x="287606" y="3272675"/>
                <a:ext cx="7606238" cy="29613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4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步骤：</a:t>
                </a:r>
                <a:endParaRPr lang="en-US" altLang="zh-CN" sz="24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、节点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score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 ①邻边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zh-CN" altLang="zh-CN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取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max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，乘瓶颈权重 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+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②距离上次广播间隔</a:t>
                </a:r>
                <a:b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	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x-IV_mathan" altLang="zh-CN"/>
                      <m:t>𝑠𝑐𝑜𝑟</m:t>
                    </m:r>
                    <m:sSub>
                      <m:sSubPr>
                        <m:ctrlPr>
                          <a:rPr lang="x-IV_mathan" altLang="zh-CN" i="1"/>
                        </m:ctrlPr>
                      </m:sSubPr>
                      <m:e>
                        <m:r>
                          <a:rPr lang="x-IV_mathan" altLang="zh-CN"/>
                          <m:t>𝑒</m:t>
                        </m:r>
                      </m:e>
                      <m:sub>
                        <m:r>
                          <a:rPr lang="x-IV_mathan" altLang="zh-CN"/>
                          <m:t>𝑖</m:t>
                        </m:r>
                      </m:sub>
                    </m:sSub>
                    <m:r>
                      <a:rPr lang="x-IV_mathan" altLang="zh-CN"/>
                      <m:t>=</m:t>
                    </m:r>
                    <m:func>
                      <m:funcPr>
                        <m:ctrlPr>
                          <a:rPr lang="x-IV_mathan" altLang="zh-CN" i="1"/>
                        </m:ctrlPr>
                      </m:funcPr>
                      <m:fName>
                        <m:limLow>
                          <m:limLowPr>
                            <m:ctrlPr>
                              <a:rPr lang="x-IV_mathan" altLang="zh-CN" i="1"/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x-IV_mathan" altLang="zh-CN"/>
                              <m:t>max</m:t>
                            </m:r>
                          </m:e>
                          <m:lim>
                            <m:r>
                              <a:rPr lang="x-IV_mathan" altLang="zh-CN"/>
                              <m:t>𝑗</m:t>
                            </m:r>
                            <m:r>
                              <a:rPr lang="x-IV_mathan" altLang="zh-CN"/>
                              <m:t>∈</m:t>
                            </m:r>
                            <m:sSub>
                              <m:sSubPr>
                                <m:ctrlPr>
                                  <a:rPr lang="x-IV_mathan" altLang="zh-CN" i="1"/>
                                </m:ctrlPr>
                              </m:sSubPr>
                              <m:e>
                                <m:r>
                                  <a:rPr lang="x-IV_mathan" altLang="zh-CN"/>
                                  <m:t>𝑁</m:t>
                                </m:r>
                              </m:e>
                              <m:sub>
                                <m:r>
                                  <a:rPr lang="x-IV_mathan" altLang="zh-CN"/>
                                  <m:t>𝑖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d>
                          <m:dPr>
                            <m:ctrlPr>
                              <a:rPr lang="x-IV_mathan" altLang="zh-CN" i="1"/>
                            </m:ctrlPr>
                          </m:dPr>
                          <m:e>
                            <m:r>
                              <a:rPr lang="x-IV_mathan" altLang="zh-CN"/>
                              <m:t>1+</m:t>
                            </m:r>
                            <m:sSub>
                              <m:sSubPr>
                                <m:ctrlPr>
                                  <a:rPr lang="x-IV_mathan" altLang="zh-CN" i="1"/>
                                </m:ctrlPr>
                              </m:sSubPr>
                              <m:e>
                                <m:r>
                                  <a:rPr lang="x-IV_mathan" altLang="zh-CN"/>
                                  <m:t>𝑤</m:t>
                                </m:r>
                              </m:e>
                              <m:sub>
                                <m:r>
                                  <a:rPr lang="x-IV_mathan" altLang="zh-CN"/>
                                  <m:t>𝜅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x-IV_mathan" altLang="zh-CN" i="1"/>
                                </m:ctrlPr>
                              </m:sSubPr>
                              <m:e>
                                <m:r>
                                  <a:rPr lang="x-IV_mathan" altLang="zh-CN"/>
                                  <m:t>𝑏</m:t>
                                </m:r>
                              </m:e>
                              <m:sub>
                                <m:r>
                                  <a:rPr lang="x-IV_mathan" altLang="zh-CN"/>
                                  <m:t>𝑖𝑗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zh-CN" altLang="zh-CN" i="1" dirty="0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func>
                    <m:r>
                      <a:rPr lang="x-IV_mathan" altLang="zh-CN"/>
                      <m:t>+</m:t>
                    </m:r>
                    <m:sSub>
                      <m:sSubPr>
                        <m:ctrlPr>
                          <a:rPr lang="x-IV_mathan" altLang="zh-CN" i="1"/>
                        </m:ctrlPr>
                      </m:sSubPr>
                      <m:e>
                        <m:r>
                          <a:rPr lang="x-IV_mathan" altLang="zh-CN"/>
                          <m:t>𝑤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x-IV_mathan" altLang="zh-CN"/>
                          <m:t>age</m:t>
                        </m:r>
                      </m:sub>
                    </m:sSub>
                    <m:sSub>
                      <m:sSubPr>
                        <m:ctrlPr>
                          <a:rPr lang="x-IV_mathan" altLang="zh-CN" i="1"/>
                        </m:ctrlPr>
                      </m:sSubPr>
                      <m:e>
                        <m:r>
                          <a:rPr lang="x-IV_mathan" altLang="zh-CN"/>
                          <m:t>𝜏</m:t>
                        </m:r>
                      </m:e>
                      <m:sub>
                        <m:r>
                          <a:rPr lang="x-IV_mathan" altLang="zh-CN"/>
                          <m:t>𝑖</m:t>
                        </m:r>
                      </m:sub>
                    </m:sSub>
                  </m:oMath>
                </a14:m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score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转成初始概率：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𝑏𝑎𝑠𝑒</m:t>
                        </m:r>
                      </m:sup>
                    </m:sSubSup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x-IV_mathan" altLang="zh-CN" i="1"/>
                        </m:ctrlPr>
                      </m:sSubPr>
                      <m:e>
                        <m:r>
                          <a:rPr lang="x-IV_mathan" altLang="zh-CN"/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x-IV_mathan" altLang="zh-CN"/>
                          <m:t>min</m:t>
                        </m:r>
                      </m:sub>
                    </m:sSub>
                    <m:r>
                      <a:rPr lang="x-IV_mathan" altLang="zh-CN"/>
                      <m:t>+</m:t>
                    </m:r>
                    <m:d>
                      <m:dPr>
                        <m:ctrlPr>
                          <a:rPr lang="x-IV_mathan" altLang="zh-CN" i="1"/>
                        </m:ctrlPr>
                      </m:dPr>
                      <m:e>
                        <m:sSub>
                          <m:sSubPr>
                            <m:ctrlPr>
                              <a:rPr lang="x-IV_mathan" altLang="zh-CN" i="1"/>
                            </m:ctrlPr>
                          </m:sSubPr>
                          <m:e>
                            <m:r>
                              <a:rPr lang="x-IV_mathan" altLang="zh-CN"/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x-IV_mathan" altLang="zh-CN"/>
                              <m:t>max</m:t>
                            </m:r>
                          </m:sub>
                        </m:sSub>
                        <m:r>
                          <a:rPr lang="x-IV_mathan" altLang="zh-CN"/>
                          <m:t>−</m:t>
                        </m:r>
                        <m:sSub>
                          <m:sSubPr>
                            <m:ctrlPr>
                              <a:rPr lang="x-IV_mathan" altLang="zh-CN" i="1"/>
                            </m:ctrlPr>
                          </m:sSubPr>
                          <m:e>
                            <m:r>
                              <a:rPr lang="x-IV_mathan" altLang="zh-CN"/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x-IV_mathan" altLang="zh-CN"/>
                              <m:t>min</m:t>
                            </m:r>
                          </m:sub>
                        </m:sSub>
                      </m:e>
                    </m:d>
                    <m:r>
                      <a:rPr lang="x-IV_mathan" altLang="zh-CN"/>
                      <m:t>𝜎</m:t>
                    </m:r>
                    <m:d>
                      <m:dPr>
                        <m:ctrlPr>
                          <a:rPr lang="x-IV_mathan" altLang="zh-CN" i="1"/>
                        </m:ctrlPr>
                      </m:dPr>
                      <m:e>
                        <m:f>
                          <m:fPr>
                            <m:ctrlPr>
                              <a:rPr lang="x-IV_mathan" altLang="zh-CN" i="1"/>
                            </m:ctrlPr>
                          </m:fPr>
                          <m:num>
                            <m:r>
                              <a:rPr lang="x-IV_mathan" altLang="zh-CN"/>
                              <m:t>𝑠𝑐𝑜𝑟</m:t>
                            </m:r>
                            <m:sSub>
                              <m:sSubPr>
                                <m:ctrlPr>
                                  <a:rPr lang="x-IV_mathan" altLang="zh-CN" i="1"/>
                                </m:ctrlPr>
                              </m:sSubPr>
                              <m:e>
                                <m:r>
                                  <a:rPr lang="x-IV_mathan" altLang="zh-CN"/>
                                  <m:t>𝑒</m:t>
                                </m:r>
                              </m:e>
                              <m:sub>
                                <m:r>
                                  <a:rPr lang="x-IV_mathan" altLang="zh-CN"/>
                                  <m:t>𝑖</m:t>
                                </m:r>
                              </m:sub>
                            </m:sSub>
                            <m:r>
                              <a:rPr lang="x-IV_mathan" altLang="zh-CN"/>
                              <m:t>−</m:t>
                            </m:r>
                            <m:r>
                              <a:rPr lang="x-IV_mathan" altLang="zh-CN"/>
                              <m:t>𝜃</m:t>
                            </m:r>
                          </m:num>
                          <m:den>
                            <m:r>
                              <a:rPr lang="x-IV_mathan" altLang="zh-CN"/>
                              <m:t>𝑇</m:t>
                            </m:r>
                          </m:den>
                        </m:f>
                      </m:e>
                    </m:d>
                  </m:oMath>
                </a14:m>
                <a:endParaRPr lang="en-US" altLang="zh-CN" dirty="0"/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、考虑退避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1—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基于信道拥塞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zh-CN" altLang="en-US" i="0" dirty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sSub>
                              <m:sSubPr>
                                <m:ctrlPr>
                                  <a:rPr lang="zh-CN" alt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i="1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zh-CN" altLang="en-US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begChr m:val="["/>
                                <m:endChr m:val="]"/>
                                <m:ctrlPr>
                                  <a:rPr lang="zh-CN" alt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CN" altLang="en-US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b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   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考虑退避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2—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基于连续广播次数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CN" altLang="en-US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p>
                        <m:sSub>
                          <m:sSubPr>
                            <m:ctrlP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</m:oMath>
                </a14:m>
                <a:endParaRPr lang="en-US" altLang="zh-CN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B5AC662-181C-B60B-0AFA-5140332B29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606" y="3272675"/>
                <a:ext cx="7606238" cy="2961388"/>
              </a:xfrm>
              <a:prstGeom prst="rect">
                <a:avLst/>
              </a:prstGeom>
              <a:blipFill>
                <a:blip r:embed="rId5"/>
                <a:stretch>
                  <a:fillRect l="-1202" t="-1646" b="-22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DCCAE564-0288-678D-759C-F5997A928482}"/>
                  </a:ext>
                </a:extLst>
              </p:cNvPr>
              <p:cNvSpPr txBox="1"/>
              <p:nvPr/>
            </p:nvSpPr>
            <p:spPr>
              <a:xfrm>
                <a:off x="5034557" y="536377"/>
                <a:ext cx="3387924" cy="3459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x-IV_mathan" altLang="zh-CN" sz="12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ˆ"/>
                            <m:ctrlPr>
                              <a:rPr lang="x-IV_mathan" altLang="zh-CN" sz="1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x-IV_mathan" altLang="zh-CN" sz="120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x-IV_mathan" altLang="zh-CN" sz="120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x-IV_mathan" altLang="zh-CN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x-IV_mathan" altLang="zh-CN" sz="120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p>
                    </m:sSubSup>
                  </m:oMath>
                </a14:m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</a:t>
                </a:r>
                <a:r>
                  <a:rPr lang="en-US" altLang="zh-CN" sz="1200" dirty="0" err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i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节点处缓存的</a:t>
                </a:r>
                <a:r>
                  <a:rPr lang="en-US" altLang="zh-CN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j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节点最新版本信息</a:t>
                </a:r>
                <a:endParaRPr lang="zh-CN" altLang="en-US" sz="1200" dirty="0"/>
              </a:p>
            </p:txBody>
          </p:sp>
        </mc:Choice>
        <mc:Fallback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DCCAE564-0288-678D-759C-F5997A928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4557" y="536377"/>
                <a:ext cx="3387924" cy="345929"/>
              </a:xfrm>
              <a:prstGeom prst="rect">
                <a:avLst/>
              </a:prstGeom>
              <a:blipFill>
                <a:blip r:embed="rId6"/>
                <a:stretch>
                  <a:fillRect b="-35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443303C-9713-E161-0176-655EF2E1DD04}"/>
                  </a:ext>
                </a:extLst>
              </p:cNvPr>
              <p:cNvSpPr txBox="1"/>
              <p:nvPr/>
            </p:nvSpPr>
            <p:spPr>
              <a:xfrm>
                <a:off x="7572714" y="5725200"/>
                <a:ext cx="422876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CN" altLang="en-US" sz="12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</a:t>
                </a:r>
                <a:r>
                  <a:rPr lang="en-US" altLang="zh-CN" sz="1200" dirty="0" err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congestion_backoff_weight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，越大越惩罚拥塞；</a:t>
                </a:r>
                <a:endParaRPr lang="en-US" altLang="zh-CN" sz="12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14:m>
                  <m:oMath xmlns:m="http://schemas.openxmlformats.org/officeDocument/2006/math">
                    <m:r>
                      <a:rPr lang="zh-CN" altLang="en-US" sz="1200" i="1" dirty="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</a:t>
                </a:r>
                <a:r>
                  <a:rPr lang="en-US" altLang="zh-CN" sz="1200" dirty="0" err="1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attempt_backoff_factor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，越小越抑制连续发送；</a:t>
                </a:r>
                <a:endParaRPr lang="en-US" altLang="zh-CN" sz="12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 xmlns:m="http://schemas.openxmlformats.org/officeDocument/2006/math">
                    <m:r>
                      <a:rPr lang="x-IV_mathan" altLang="zh-CN" sz="120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</a:t>
                </a:r>
                <a:r>
                  <a:rPr lang="en-US" altLang="zh-CN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threshold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，可用于控制广播总量；</a:t>
                </a:r>
                <a:endParaRPr lang="en-US" altLang="zh-CN" sz="12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/>
                <a14:m>
                  <m:oMath xmlns:m="http://schemas.openxmlformats.org/officeDocument/2006/math">
                    <m:r>
                      <a:rPr lang="x-IV_mathan" altLang="zh-CN" sz="120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</a:t>
                </a:r>
                <a:r>
                  <a:rPr lang="en-US" altLang="zh-CN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temperature</a:t>
                </a:r>
                <a:r>
                  <a:rPr lang="zh-CN" altLang="en-US" sz="12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，控制节点分数之间的区分强度</a:t>
                </a:r>
                <a:endParaRPr lang="zh-CN" altLang="en-US" sz="1200" dirty="0"/>
              </a:p>
            </p:txBody>
          </p:sp>
        </mc:Choice>
        <mc:Fallback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443303C-9713-E161-0176-655EF2E1DD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2714" y="5725200"/>
                <a:ext cx="4228761" cy="830997"/>
              </a:xfrm>
              <a:prstGeom prst="rect">
                <a:avLst/>
              </a:prstGeom>
              <a:blipFill>
                <a:blip r:embed="rId7"/>
                <a:stretch>
                  <a:fillRect b="-44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B4C96095-C432-BCA5-85FE-98C508FD6A73}"/>
                  </a:ext>
                </a:extLst>
              </p:cNvPr>
              <p:cNvSpPr txBox="1"/>
              <p:nvPr/>
            </p:nvSpPr>
            <p:spPr>
              <a:xfrm>
                <a:off x="1226343" y="6234063"/>
                <a:ext cx="4738688" cy="410562"/>
              </a:xfrm>
              <a:prstGeom prst="rec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80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zh-CN" altLang="en-US" sz="180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zh-CN" altLang="en-US" sz="1800" i="0" dirty="0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zh-CN" altLang="en-US" sz="1800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zh-CN" altLang="en-US" sz="1800" i="0" dirty="0" smtClean="0">
                              <a:latin typeface="Cambria Math" panose="02040503050406030204" pitchFamily="18" charset="0"/>
                            </a:rPr>
                            <m:t>clip</m:t>
                          </m:r>
                        </m:fName>
                        <m:e>
                          <m:d>
                            <m:dPr>
                              <m:ctrlPr>
                                <a:rPr lang="zh-CN" altLang="en-US" sz="1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𝑏𝑎𝑠𝑒</m:t>
                                  </m:r>
                                </m:sup>
                              </m:sSubSup>
                              <m:func>
                                <m:funcPr>
                                  <m:ctrlP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zh-CN" altLang="en-US" sz="1800" i="0" dirty="0" smtClean="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altLang="en-US" sz="1800" i="0" dirty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  <m:t>𝜆</m:t>
                                      </m:r>
                                      <m:sSub>
                                        <m:sSubPr>
                                          <m:ctrlPr>
                                            <a:rPr lang="zh-CN" altLang="en-US" sz="1800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CN" altLang="en-US" sz="1800" i="1" dirty="0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zh-CN" altLang="en-US" sz="1800" i="1" dirty="0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zh-CN" altLang="en-US" sz="1800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zh-CN" altLang="en-US" sz="1800" i="1" dirty="0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sSup>
                                <m:sSupPr>
                                  <m:ctrlP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altLang="en-US" sz="1800" i="1" dirty="0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zh-CN" altLang="en-US" sz="1800" i="0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zh-CN" altLang="en-US" sz="1800" i="0" dirty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sub>
                              </m:sSub>
                              <m:r>
                                <a:rPr lang="zh-CN" altLang="en-US" sz="1800" i="0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80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zh-CN" altLang="en-US" sz="1800" i="0" dirty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B4C96095-C432-BCA5-85FE-98C508FD6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6343" y="6234063"/>
                <a:ext cx="4738688" cy="410562"/>
              </a:xfrm>
              <a:prstGeom prst="rect">
                <a:avLst/>
              </a:prstGeom>
              <a:blipFill>
                <a:blip r:embed="rId8"/>
                <a:stretch>
                  <a:fillRect b="-7246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966B4C8-5001-41FF-D75B-13FB8D2EA716}"/>
                  </a:ext>
                </a:extLst>
              </p:cNvPr>
              <p:cNvSpPr txBox="1"/>
              <p:nvPr/>
            </p:nvSpPr>
            <p:spPr>
              <a:xfrm>
                <a:off x="0" y="7001045"/>
                <a:ext cx="8166107" cy="13431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节点若上一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slot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为发送则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不变；为接收则会更新：</a:t>
                </a:r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:pPr/>
                <a:r>
                  <a:rPr lang="en-US" altLang="zh-CN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zh-CN" altLang="en-US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zh-CN" altLang="en-US" i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zh-CN" altLang="en-US" i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func>
                      <m:func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zh-CN" altLang="en-US" i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i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f>
                              <m:fPr>
                                <m:ctrlP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alt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zh-CN" alt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US" altLang="zh-CN" dirty="0"/>
              </a:p>
              <a:p>
                <a:pPr/>
                <a:r>
                  <a:rPr lang="zh-CN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其中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zh-CN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是噪声功率，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控制历史平滑程度。</a:t>
                </a:r>
                <a:b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为除最强被接收的广播信号外，其余所有信号的接收功率之和。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966B4C8-5001-41FF-D75B-13FB8D2E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7001045"/>
                <a:ext cx="8166107" cy="1343188"/>
              </a:xfrm>
              <a:prstGeom prst="rect">
                <a:avLst/>
              </a:prstGeom>
              <a:blipFill>
                <a:blip r:embed="rId9"/>
                <a:stretch>
                  <a:fillRect l="-597" t="-2262" b="-58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1445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4769CAE8-37AA-83F1-F822-FB80D4274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441493" cy="68580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0A37F1FA-B317-5578-AEC3-F67EDCCEA4B1}"/>
              </a:ext>
            </a:extLst>
          </p:cNvPr>
          <p:cNvSpPr txBox="1"/>
          <p:nvPr/>
        </p:nvSpPr>
        <p:spPr>
          <a:xfrm>
            <a:off x="9713545" y="1389378"/>
            <a:ext cx="24784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在相近的广播次数下，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orc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性能最好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215C0C6-05E0-4BAA-D2A6-100959F818A3}"/>
              </a:ext>
            </a:extLst>
          </p:cNvPr>
          <p:cNvSpPr txBox="1"/>
          <p:nvPr/>
        </p:nvSpPr>
        <p:spPr>
          <a:xfrm>
            <a:off x="4998721" y="360678"/>
            <a:ext cx="25831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N=100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P_u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=0.05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17088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DE2C4ACF-6106-BCAE-5D9B-C2AAD51E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6" y="0"/>
            <a:ext cx="9516649" cy="685800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34709A2-90FE-FAE8-CB3C-5134C4CEB41C}"/>
              </a:ext>
            </a:extLst>
          </p:cNvPr>
          <p:cNvSpPr txBox="1"/>
          <p:nvPr/>
        </p:nvSpPr>
        <p:spPr>
          <a:xfrm>
            <a:off x="4998721" y="360678"/>
            <a:ext cx="25831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N=100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P_u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=0.20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133571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A5931-B8B1-A508-E8E5-9CF11B57F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E92D6405-1FC9-1DDB-7803-277A4AEC5C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111"/>
          <a:stretch>
            <a:fillRect/>
          </a:stretch>
        </p:blipFill>
        <p:spPr>
          <a:xfrm>
            <a:off x="1" y="51453"/>
            <a:ext cx="7513320" cy="337754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09DBA0E-033E-14B4-D8BD-7832DD04069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1000"/>
          <a:stretch>
            <a:fillRect/>
          </a:stretch>
        </p:blipFill>
        <p:spPr>
          <a:xfrm>
            <a:off x="1" y="3517010"/>
            <a:ext cx="7513320" cy="3219888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D4DA6D8E-601C-0E82-9DAB-3CA6EFEEB4B0}"/>
              </a:ext>
            </a:extLst>
          </p:cNvPr>
          <p:cNvSpPr txBox="1"/>
          <p:nvPr/>
        </p:nvSpPr>
        <p:spPr>
          <a:xfrm>
            <a:off x="8313733" y="642618"/>
            <a:ext cx="275050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不用精确的全局曲率计算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用分布式只需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跳邻居信息的曲率估计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相同配置下性能差了一些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E6C4C19-0CFD-46E9-EF01-4332CECD268C}"/>
              </a:ext>
            </a:extLst>
          </p:cNvPr>
          <p:cNvSpPr txBox="1"/>
          <p:nvPr/>
        </p:nvSpPr>
        <p:spPr>
          <a:xfrm>
            <a:off x="2674620" y="4003038"/>
            <a:ext cx="35585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N=100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P_u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=0.05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；估计曲率</a:t>
            </a:r>
          </a:p>
        </p:txBody>
      </p:sp>
    </p:spTree>
    <p:extLst>
      <p:ext uri="{BB962C8B-B14F-4D97-AF65-F5344CB8AC3E}">
        <p14:creationId xmlns:p14="http://schemas.microsoft.com/office/powerpoint/2010/main" val="1905174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CC6AF-253F-E3D3-36A4-C461440C7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BAFB5F39-3BE2-D0BB-8F58-143813C82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1111"/>
          <a:stretch>
            <a:fillRect/>
          </a:stretch>
        </p:blipFill>
        <p:spPr>
          <a:xfrm>
            <a:off x="4177" y="0"/>
            <a:ext cx="7239000" cy="3072029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0AE3AEC8-9C09-83AE-CEC4-BC742151173F}"/>
              </a:ext>
            </a:extLst>
          </p:cNvPr>
          <p:cNvSpPr txBox="1"/>
          <p:nvPr/>
        </p:nvSpPr>
        <p:spPr>
          <a:xfrm>
            <a:off x="3291841" y="360678"/>
            <a:ext cx="25831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N=100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P_u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=0.20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74C768D-8DFC-2589-60F1-B99D52140D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1111"/>
          <a:stretch>
            <a:fillRect/>
          </a:stretch>
        </p:blipFill>
        <p:spPr>
          <a:xfrm>
            <a:off x="1" y="3425293"/>
            <a:ext cx="7239000" cy="307202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B2ED22A6-42ED-2104-613A-006042AEB78B}"/>
              </a:ext>
            </a:extLst>
          </p:cNvPr>
          <p:cNvSpPr txBox="1"/>
          <p:nvPr/>
        </p:nvSpPr>
        <p:spPr>
          <a:xfrm>
            <a:off x="3291840" y="3873706"/>
            <a:ext cx="3619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N=100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P_u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=0.20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；估计曲率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3315FFB-666B-F2B2-8166-B6DBE2FD0417}"/>
              </a:ext>
            </a:extLst>
          </p:cNvPr>
          <p:cNvSpPr/>
          <p:nvPr/>
        </p:nvSpPr>
        <p:spPr>
          <a:xfrm>
            <a:off x="160020" y="2164080"/>
            <a:ext cx="342138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D6A0EDD-184A-F046-CBAB-B858B7657069}"/>
              </a:ext>
            </a:extLst>
          </p:cNvPr>
          <p:cNvSpPr/>
          <p:nvPr/>
        </p:nvSpPr>
        <p:spPr>
          <a:xfrm>
            <a:off x="160020" y="5783580"/>
            <a:ext cx="3741420" cy="30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3782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A8401213-810E-97F5-CFC0-895F5AA4B3ED}"/>
              </a:ext>
            </a:extLst>
          </p:cNvPr>
          <p:cNvSpPr txBox="1"/>
          <p:nvPr/>
        </p:nvSpPr>
        <p:spPr>
          <a:xfrm>
            <a:off x="287606" y="1413151"/>
            <a:ext cx="1141671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policy | </a:t>
            </a:r>
            <a:r>
              <a:rPr lang="en-US" altLang="zh-CN" dirty="0" err="1"/>
              <a:t>mean_VAoI</a:t>
            </a:r>
            <a:r>
              <a:rPr lang="en-US" altLang="zh-CN" dirty="0"/>
              <a:t> | </a:t>
            </a:r>
            <a:r>
              <a:rPr lang="en-US" altLang="zh-CN" dirty="0" err="1"/>
              <a:t>mean_max_VAoI</a:t>
            </a:r>
            <a:r>
              <a:rPr lang="en-US" altLang="zh-CN" dirty="0"/>
              <a:t> | p95_max_VAoI | </a:t>
            </a:r>
            <a:r>
              <a:rPr lang="en-US" altLang="zh-CN" dirty="0" err="1"/>
              <a:t>avg_tx_per_slot</a:t>
            </a:r>
            <a:r>
              <a:rPr lang="en-US" altLang="zh-CN" dirty="0"/>
              <a:t> | </a:t>
            </a:r>
            <a:r>
              <a:rPr lang="en-US" altLang="zh-CN" dirty="0" err="1"/>
              <a:t>successful_decodes_per_tx</a:t>
            </a:r>
            <a:endParaRPr lang="en-US" altLang="zh-CN" dirty="0"/>
          </a:p>
          <a:p>
            <a:r>
              <a:rPr lang="zh-CN" altLang="en-US" dirty="0"/>
              <a:t>freshness_backoff | 8.29842 | 29.5625 | 38.3333 | 9.76912 | 5.39075</a:t>
            </a:r>
          </a:p>
          <a:p>
            <a:r>
              <a:rPr lang="zh-CN" altLang="en-US" dirty="0"/>
              <a:t>orc_freshness_backoff | 7.73416 | 27.6758 | 35.3333 | 10.4337 | 5.20958</a:t>
            </a:r>
          </a:p>
          <a:p>
            <a:r>
              <a:rPr lang="zh-CN" altLang="en-US" dirty="0"/>
              <a:t>random | 11.0612 | 37.007 | 53.5167 | 17.953 | 3.25112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2308A70-EDA6-091C-6B7C-F9BEA5A22B0E}"/>
              </a:ext>
            </a:extLst>
          </p:cNvPr>
          <p:cNvSpPr txBox="1"/>
          <p:nvPr/>
        </p:nvSpPr>
        <p:spPr>
          <a:xfrm>
            <a:off x="287605" y="3851088"/>
            <a:ext cx="75860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freshness_backoff | 8.33242 | 29.4744 | 38 | 9.87018 | 5.35892</a:t>
            </a:r>
          </a:p>
          <a:p>
            <a:r>
              <a:rPr lang="zh-CN" altLang="en-US" dirty="0"/>
              <a:t>orc_freshness_backoff | 7.75543 | 27.6011 | 34.6667 | 10.534 | 5.1756</a:t>
            </a:r>
          </a:p>
          <a:p>
            <a:r>
              <a:rPr lang="zh-CN" altLang="en-US" dirty="0"/>
              <a:t>random | 11.0612 | 37.007 | 53.5167 | 17.953 | 3.25112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19BFA1E4-4478-3648-52AF-A958C04F73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184587"/>
              </p:ext>
            </p:extLst>
          </p:nvPr>
        </p:nvGraphicFramePr>
        <p:xfrm>
          <a:off x="287605" y="369170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0.2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0.90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0.75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C4FAB3B2-8608-CC2D-6227-F31FAAD2FD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1213111"/>
              </p:ext>
            </p:extLst>
          </p:nvPr>
        </p:nvGraphicFramePr>
        <p:xfrm>
          <a:off x="287605" y="2786510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0.2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0.75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23218076-5005-DAD6-B76B-D09815ADFE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268627"/>
              </p:ext>
            </p:extLst>
          </p:nvPr>
        </p:nvGraphicFramePr>
        <p:xfrm>
          <a:off x="287605" y="5060560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0.9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0.75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10A794F6-1756-3252-47A1-FB6EA2A6262D}"/>
              </a:ext>
            </a:extLst>
          </p:cNvPr>
          <p:cNvSpPr txBox="1"/>
          <p:nvPr/>
        </p:nvSpPr>
        <p:spPr>
          <a:xfrm>
            <a:off x="287605" y="6071480"/>
            <a:ext cx="93303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freshness_backoff | 4.34595 | 17.4923 | 23 | 8.21088 | 5.94705</a:t>
            </a:r>
          </a:p>
          <a:p>
            <a:r>
              <a:rPr lang="zh-CN" altLang="en-US" dirty="0"/>
              <a:t>orc_freshness_backoff | 3.8942 | 15.9239 | 21.6667 | 8.87193 | 5.75245</a:t>
            </a:r>
          </a:p>
          <a:p>
            <a:r>
              <a:rPr lang="zh-CN" altLang="en-US" dirty="0"/>
              <a:t>random | 5.50023 | 20.8347 | 30.1833 | 17.953 | 3.25112</a:t>
            </a:r>
          </a:p>
        </p:txBody>
      </p:sp>
    </p:spTree>
    <p:extLst>
      <p:ext uri="{BB962C8B-B14F-4D97-AF65-F5344CB8AC3E}">
        <p14:creationId xmlns:p14="http://schemas.microsoft.com/office/powerpoint/2010/main" val="42540898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94ACA-97A1-980C-A2B8-C93927C87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F81043C-EA42-9DF5-4F2A-5E3479F5E7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3997892"/>
              </p:ext>
            </p:extLst>
          </p:nvPr>
        </p:nvGraphicFramePr>
        <p:xfrm>
          <a:off x="287605" y="249409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0.9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0.75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D0FA6432-1747-1854-91F7-62B1C2225810}"/>
              </a:ext>
            </a:extLst>
          </p:cNvPr>
          <p:cNvSpPr txBox="1"/>
          <p:nvPr/>
        </p:nvSpPr>
        <p:spPr>
          <a:xfrm>
            <a:off x="287605" y="1260329"/>
            <a:ext cx="93303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freshness_backoff | 4.34595 | 17.4923 | 23 | 8.21088 | 5.94705</a:t>
            </a:r>
          </a:p>
          <a:p>
            <a:r>
              <a:rPr lang="zh-CN" altLang="en-US" dirty="0"/>
              <a:t>orc_freshness_backoff | 3.8942 | 15.9239 | 21.6667 | 8.87193 | 5.75245</a:t>
            </a:r>
          </a:p>
          <a:p>
            <a:r>
              <a:rPr lang="zh-CN" altLang="en-US" dirty="0"/>
              <a:t>random | 5.50023 | 20.8347 | 30.1833 | 17.953 | 3.25112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35120655-0009-F230-F816-7478331737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9468310"/>
              </p:ext>
            </p:extLst>
          </p:nvPr>
        </p:nvGraphicFramePr>
        <p:xfrm>
          <a:off x="287605" y="2418080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0.9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3BCBFDF-1BC0-D1B1-A110-53AAC370CE17}"/>
              </a:ext>
            </a:extLst>
          </p:cNvPr>
          <p:cNvSpPr txBox="1"/>
          <p:nvPr/>
        </p:nvSpPr>
        <p:spPr>
          <a:xfrm>
            <a:off x="287605" y="3429000"/>
            <a:ext cx="93303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freshness_backoff</a:t>
            </a:r>
            <a:r>
              <a:rPr lang="en-US" altLang="zh-CN" dirty="0"/>
              <a:t> | 4.34595 | 17.4923 | 23 | 8.21088 | 5.94705</a:t>
            </a:r>
          </a:p>
          <a:p>
            <a:r>
              <a:rPr lang="en-US" altLang="zh-CN" dirty="0" err="1"/>
              <a:t>orc_freshness_backoff</a:t>
            </a:r>
            <a:r>
              <a:rPr lang="en-US" altLang="zh-CN" dirty="0"/>
              <a:t> | 3.85496 | 15.786 | 21.5167 | 9.12702 | 5.66069</a:t>
            </a:r>
          </a:p>
          <a:p>
            <a:r>
              <a:rPr lang="en-US" altLang="zh-CN" dirty="0"/>
              <a:t>random | 5.50023 | 20.8347 | 30.1833 | 17.953 | 3.25112</a:t>
            </a:r>
            <a:endParaRPr lang="zh-CN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8FE5B63-ED2C-95CD-617E-9967B6F184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3352895"/>
              </p:ext>
            </p:extLst>
          </p:nvPr>
        </p:nvGraphicFramePr>
        <p:xfrm>
          <a:off x="287605" y="4586751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772C8C24-68A2-649E-A5DF-17EBF90A26DC}"/>
              </a:ext>
            </a:extLst>
          </p:cNvPr>
          <p:cNvSpPr txBox="1"/>
          <p:nvPr/>
        </p:nvSpPr>
        <p:spPr>
          <a:xfrm>
            <a:off x="287605" y="5597671"/>
            <a:ext cx="93303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freshness_backoff</a:t>
            </a:r>
            <a:r>
              <a:rPr lang="en-US" altLang="zh-CN" dirty="0"/>
              <a:t> | 4.20464 | 16.6379 | 21 | 8.77368 | 5.74849</a:t>
            </a:r>
          </a:p>
          <a:p>
            <a:r>
              <a:rPr lang="en-US" altLang="zh-CN" dirty="0" err="1"/>
              <a:t>orc_freshness_backoff</a:t>
            </a:r>
            <a:r>
              <a:rPr lang="en-US" altLang="zh-CN" dirty="0"/>
              <a:t> | 3.82309 | 15.6568 | 21 | 9.02807 | 5.69959</a:t>
            </a:r>
          </a:p>
          <a:p>
            <a:r>
              <a:rPr lang="en-US" altLang="zh-CN" dirty="0"/>
              <a:t>random | 5.50023 | 20.8347 | 30.1833 | 17.953 | 3.25112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37072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13212-303A-B5EA-B68A-E93052AA1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A8498155-EF0A-C4CE-5D55-83E0A19121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930250"/>
              </p:ext>
            </p:extLst>
          </p:nvPr>
        </p:nvGraphicFramePr>
        <p:xfrm>
          <a:off x="287605" y="249409"/>
          <a:ext cx="10741465" cy="1010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4930">
                  <a:extLst>
                    <a:ext uri="{9D8B030D-6E8A-4147-A177-3AD203B41FA5}">
                      <a16:colId xmlns:a16="http://schemas.microsoft.com/office/drawing/2014/main" val="3978037689"/>
                    </a:ext>
                  </a:extLst>
                </a:gridCol>
                <a:gridCol w="896166">
                  <a:extLst>
                    <a:ext uri="{9D8B030D-6E8A-4147-A177-3AD203B41FA5}">
                      <a16:colId xmlns:a16="http://schemas.microsoft.com/office/drawing/2014/main" val="3690039321"/>
                    </a:ext>
                  </a:extLst>
                </a:gridCol>
                <a:gridCol w="1580090">
                  <a:extLst>
                    <a:ext uri="{9D8B030D-6E8A-4147-A177-3AD203B41FA5}">
                      <a16:colId xmlns:a16="http://schemas.microsoft.com/office/drawing/2014/main" val="3306072874"/>
                    </a:ext>
                  </a:extLst>
                </a:gridCol>
                <a:gridCol w="978568">
                  <a:extLst>
                    <a:ext uri="{9D8B030D-6E8A-4147-A177-3AD203B41FA5}">
                      <a16:colId xmlns:a16="http://schemas.microsoft.com/office/drawing/2014/main" val="1637220668"/>
                    </a:ext>
                  </a:extLst>
                </a:gridCol>
                <a:gridCol w="1402776">
                  <a:extLst>
                    <a:ext uri="{9D8B030D-6E8A-4147-A177-3AD203B41FA5}">
                      <a16:colId xmlns:a16="http://schemas.microsoft.com/office/drawing/2014/main" val="1299138137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3801103070"/>
                    </a:ext>
                  </a:extLst>
                </a:gridCol>
                <a:gridCol w="1692010">
                  <a:extLst>
                    <a:ext uri="{9D8B030D-6E8A-4147-A177-3AD203B41FA5}">
                      <a16:colId xmlns:a16="http://schemas.microsoft.com/office/drawing/2014/main" val="4042415569"/>
                    </a:ext>
                  </a:extLst>
                </a:gridCol>
                <a:gridCol w="1580465">
                  <a:extLst>
                    <a:ext uri="{9D8B030D-6E8A-4147-A177-3AD203B41FA5}">
                      <a16:colId xmlns:a16="http://schemas.microsoft.com/office/drawing/2014/main" val="2047208367"/>
                    </a:ext>
                  </a:extLst>
                </a:gridCol>
                <a:gridCol w="1088764">
                  <a:extLst>
                    <a:ext uri="{9D8B030D-6E8A-4147-A177-3AD203B41FA5}">
                      <a16:colId xmlns:a16="http://schemas.microsoft.com/office/drawing/2014/main" val="4142932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</a:t>
                      </a:r>
                    </a:p>
                    <a:p>
                      <a:pPr algn="ctr"/>
                      <a:r>
                        <a:rPr lang="en-US" altLang="zh-CN" dirty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q_min</a:t>
                      </a:r>
                      <a:r>
                        <a:rPr lang="en-US" altLang="zh-CN" dirty="0"/>
                        <a:t>-max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age_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threshold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temperature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congestion_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backoff_weight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attempt_</a:t>
                      </a:r>
                      <a:br>
                        <a:rPr lang="en-US" altLang="zh-CN" dirty="0"/>
                      </a:br>
                      <a:r>
                        <a:rPr lang="zh-CN" altLang="zh-CN" dirty="0"/>
                        <a:t>backoff_factor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curvature_weight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451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0.05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0.01</a:t>
                      </a:r>
                      <a:r>
                        <a:rPr lang="en-US" altLang="zh-CN" dirty="0"/>
                        <a:t>-</a:t>
                      </a:r>
                      <a:r>
                        <a:rPr lang="zh-CN" altLang="zh-CN" dirty="0"/>
                        <a:t> 0.45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0.003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0.20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zh-CN" dirty="0"/>
                        <a:t>0.08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0.9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dirty="0"/>
                        <a:t>0.75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9513840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EB1A7E93-CBCD-15B1-B491-3134C6EAB6BB}"/>
              </a:ext>
            </a:extLst>
          </p:cNvPr>
          <p:cNvSpPr txBox="1"/>
          <p:nvPr/>
        </p:nvSpPr>
        <p:spPr>
          <a:xfrm>
            <a:off x="287605" y="1260329"/>
            <a:ext cx="93303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freshness_backoff</a:t>
            </a:r>
            <a:r>
              <a:rPr lang="en-US" altLang="zh-CN" dirty="0"/>
              <a:t> | 2.26661 | 10.7867 | 14.3333 | 7.30632 | 6.29216</a:t>
            </a:r>
          </a:p>
          <a:p>
            <a:r>
              <a:rPr lang="en-US" altLang="zh-CN" dirty="0" err="1"/>
              <a:t>orc_freshness_backoff</a:t>
            </a:r>
            <a:r>
              <a:rPr lang="en-US" altLang="zh-CN" dirty="0"/>
              <a:t> | 2.04306 | 9.53263 | 12.3333 | 7.49018 | 6.2608</a:t>
            </a:r>
          </a:p>
          <a:p>
            <a:r>
              <a:rPr lang="en-US" altLang="zh-CN" dirty="0"/>
              <a:t>random | 2.06997 | 9.85158 | 13 | 10.0119 | 5.32788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6DA820E-F5AC-E44E-CE31-58C260CF0D80}"/>
              </a:ext>
            </a:extLst>
          </p:cNvPr>
          <p:cNvSpPr txBox="1"/>
          <p:nvPr/>
        </p:nvSpPr>
        <p:spPr>
          <a:xfrm>
            <a:off x="287605" y="2151378"/>
            <a:ext cx="93303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orc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与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random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性能相近，但所需广播次数更少</a:t>
            </a:r>
          </a:p>
        </p:txBody>
      </p:sp>
    </p:spTree>
    <p:extLst>
      <p:ext uri="{BB962C8B-B14F-4D97-AF65-F5344CB8AC3E}">
        <p14:creationId xmlns:p14="http://schemas.microsoft.com/office/powerpoint/2010/main" val="936494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1071</TotalTime>
  <Words>1171</Words>
  <Application>Microsoft Office PowerPoint</Application>
  <PresentationFormat>宽屏</PresentationFormat>
  <Paragraphs>190</Paragraphs>
  <Slides>8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4" baseType="lpstr">
      <vt:lpstr>等线</vt:lpstr>
      <vt:lpstr>等线 Light</vt:lpstr>
      <vt:lpstr>微软雅黑</vt:lpstr>
      <vt:lpstr>Arial</vt:lpstr>
      <vt:lpstr>Cambria Math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张梦菲</dc:creator>
  <cp:lastModifiedBy>张梦菲</cp:lastModifiedBy>
  <cp:revision>10</cp:revision>
  <dcterms:created xsi:type="dcterms:W3CDTF">2026-07-15T14:54:06Z</dcterms:created>
  <dcterms:modified xsi:type="dcterms:W3CDTF">2026-07-16T08:45:23Z</dcterms:modified>
</cp:coreProperties>
</file>