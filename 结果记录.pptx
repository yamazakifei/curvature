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61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320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D4606-A149-4551-84EE-54B2755AE889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9CDDF-5849-475B-8FE8-CAF368895B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94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curvature-gossip\scripts\plot_multi_vaoi_vs_transmissions.py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9CDDF-5849-475B-8FE8-CAF368895B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630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57557-4A74-D9D9-60AA-021F57637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593381-0407-B182-7BC1-DE997CC02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5DC17-7CE0-7D72-4720-6E6F54970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23482B-B895-25F2-DC50-39F2E7F6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4E1A1-D962-9E58-67EC-D501BABB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809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E0D38-0894-6304-55F2-ED9AE9CE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DE406-D08C-10FC-5243-14F027A0B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63881-AB56-DA67-F14E-D2673E6E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2ED632-0F83-620E-4FDD-92D2CCE1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2B2C4-5145-72CA-74F0-C704F063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7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C30F2-C3CA-D9B2-2D4C-30B7D602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A1604D-2DC6-A0F6-D724-CE4774BF9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D7FDCF-E1BA-B8EE-7EDA-9C140747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38B6C-00A8-3DE4-F306-5D1B6750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89966-E498-2A94-FB9F-599638B1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3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EF397-11D6-6967-FE4E-9A3735A5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37744-80E3-CBA6-79D5-F26DF0F75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A88525-439E-5444-6EDC-6F2F76DDE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8496F-67DE-B13F-C617-E637E089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696737-B7AE-42E6-1608-3B141F9F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CF8E80-7648-8F1E-0FB4-745BD354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662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BB166-E0C5-BA9C-ABFD-6CDB58B9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B26301-7BBA-BF57-C7EA-38D2C66F7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2AE876-4A6F-D688-4BAD-4F1C1C3B9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CE74C8-A512-75C0-AECF-549285611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055BD4-DBF9-749A-9CA1-D94441A6C9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4B7921-55FA-CE19-4B7F-724CAC57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1F4CD6-87E9-B5B1-9E0D-2045EA0E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C2C9E78-CCD0-0EE9-7247-E36D2349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98B10-C903-86F2-AB66-F8791BBC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A0AF25-9F11-8F45-F955-49CD7A00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53036C-2158-17A0-2F05-4BFF009C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87AD8D-CA44-7402-CD2D-96FA96E0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74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F3C3F8-C206-5109-8DA3-1B7AF5A8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13C003-62BB-B02D-2CAE-81CBB642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3B3C45-4A4D-A265-51BF-78ED5F75A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7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A99AF-5A88-6990-1277-ACB06384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ADB32-47C3-C84A-F526-389293E64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B309B2-8116-9B5A-342B-1EFAF294C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487293-60D3-F597-8298-B92B5EAF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BCBF18-B13C-93DD-3BEC-6CE5C8AA4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E820EC-FB7F-C17D-C261-130FED34C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87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26EA9-8C77-D931-E0E6-B5717D95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E91146-0E68-A7CC-7CB9-2B9045254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169446-E79D-1DCF-78A5-09686754B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A6B57-8B29-0A83-9342-C0B1608F5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F1C06-AABF-0C29-6DC0-0E7D5678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4828AC-9851-257A-30EB-10F592A4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07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737F1-66FA-EC6B-C5C2-77F2C7F1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D97CC5-4184-D39F-9597-7A1C1DFD3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7FEDC-5F65-3D09-C6FA-DB177545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5C1A5F-B803-49C1-EDB7-DB056F22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3A579-FDFF-E3A5-E1A2-4A769893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37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4C485A-9C19-00EB-07F6-2BBF04C2B3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1C3CC-8B90-394D-98BF-5F137C751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AD0225-8D7D-3A54-EDEC-04C60241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ED919-9EB1-EC2D-83C4-985111B6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4B5462-9BC6-85FD-BCB4-3C232F3B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40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430365-8F4B-1EC9-01B8-101DDFFB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3328B9-6A72-FFFB-B109-4C0CD884B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56D85D-9068-8A55-9786-CB6792266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942E1-4ABA-40AE-AFC6-AEEA76844A86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895A74-D12A-E532-321B-6D31B9ADA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BEB80-7296-D243-42F3-F99FF34EF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CCB0A-5E84-49DC-99B5-DC96147790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23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6AB2A97-00A1-B9DE-982D-C0B5E89726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5" t="20854" r="22314" b="25401"/>
          <a:stretch>
            <a:fillRect/>
          </a:stretch>
        </p:blipFill>
        <p:spPr>
          <a:xfrm>
            <a:off x="7512263" y="418367"/>
            <a:ext cx="3896389" cy="24902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A9368E3-1A8F-7D23-F810-C92236D84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793"/>
          <a:stretch>
            <a:fillRect/>
          </a:stretch>
        </p:blipFill>
        <p:spPr>
          <a:xfrm>
            <a:off x="11495603" y="205742"/>
            <a:ext cx="596385" cy="32075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0939B9-A9EA-2EE6-E745-5AC804AA6BC2}"/>
                  </a:ext>
                </a:extLst>
              </p:cNvPr>
              <p:cNvSpPr txBox="1"/>
              <p:nvPr/>
            </p:nvSpPr>
            <p:spPr>
              <a:xfrm>
                <a:off x="287606" y="301803"/>
                <a:ext cx="8770669" cy="2854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启发式节点分布式广播概率计算：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、对邻居的新鲜度优化估计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x-IV_mathan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x-IV_mathan" altLang="zh-CN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x-IV_matha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x-IV_mathan" altLang="zh-CN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x-IV_matha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x-IV_mathan" altLang="zh-CN"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sSub>
                                  <m:sSubPr>
                                    <m:ctrlPr>
                                      <a:rPr lang="x-IV_matha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x-IV_mathan" altLang="zh-CN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x-IV_mathan" altLang="zh-CN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x-IV_matha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 altLang="zh-CN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x-IV_mathan" altLang="zh-C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x-IV_matha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x-IV_matha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x-IV_mathan" altLang="zh-CN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x-IV_mathan" altLang="zh-CN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x-IV_mathan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x-IV_mathan" altLang="zh-CN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p>
                                </m:sSub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x-IV_matha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x-IV_mathan" altLang="zh-CN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、曲率 → 瓶颈权重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x-IV_mathan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x-IV_mathan" altLang="zh-CN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x-IV_matha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IV_mathan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x-IV_matha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IV_mathan" altLang="zh-CN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x-IV_mathan" altLang="zh-CN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x-IV_mathan" altLang="zh-CN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x-IV_mathan" altLang="zh-CN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x-IV_mathan" altLang="zh-CN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x-IV_matha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IV_mathan" altLang="zh-C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x-IV_matha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x-IV_mathan" altLang="zh-CN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x-IV_mathan" altLang="zh-CN">
                                <a:latin typeface="Cambria Math" panose="02040503050406030204" pitchFamily="18" charset="0"/>
                              </a:rPr>
                              <m:t>,0</m:t>
                            </m:r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、距离上一次广播的间隔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、基于信道拥塞的退避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、基于连续广播次数的退避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70939B9-A9EA-2EE6-E745-5AC804AA6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06" y="301803"/>
                <a:ext cx="8770669" cy="2854308"/>
              </a:xfrm>
              <a:prstGeom prst="rect">
                <a:avLst/>
              </a:prstGeom>
              <a:blipFill>
                <a:blip r:embed="rId3"/>
                <a:stretch>
                  <a:fillRect l="-1042" t="-1709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31C4BB4-8D1A-C607-8A7C-FD4B66225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305" y="2831616"/>
            <a:ext cx="3661053" cy="24277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5AC662-181C-B60B-0AFA-5140332B291F}"/>
                  </a:ext>
                </a:extLst>
              </p:cNvPr>
              <p:cNvSpPr txBox="1"/>
              <p:nvPr/>
            </p:nvSpPr>
            <p:spPr>
              <a:xfrm>
                <a:off x="287606" y="3272675"/>
                <a:ext cx="7606238" cy="2961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步骤：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、节点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score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①邻边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CN" altLang="zh-CN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，乘瓶颈权重 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②距离上次广播间隔</a:t>
                </a:r>
                <a:b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x-IV_mathan" altLang="zh-CN"/>
                      <m:t>𝑠𝑐𝑜𝑟</m:t>
                    </m:r>
                    <m:sSub>
                      <m:sSubPr>
                        <m:ctrlPr>
                          <a:rPr lang="x-IV_mathan" altLang="zh-CN" i="1"/>
                        </m:ctrlPr>
                      </m:sSubPr>
                      <m:e>
                        <m:r>
                          <a:rPr lang="x-IV_mathan" altLang="zh-CN"/>
                          <m:t>𝑒</m:t>
                        </m:r>
                      </m:e>
                      <m:sub>
                        <m:r>
                          <a:rPr lang="x-IV_mathan" altLang="zh-CN"/>
                          <m:t>𝑖</m:t>
                        </m:r>
                      </m:sub>
                    </m:sSub>
                    <m:r>
                      <a:rPr lang="x-IV_mathan" altLang="zh-CN"/>
                      <m:t>=</m:t>
                    </m:r>
                    <m:func>
                      <m:funcPr>
                        <m:ctrlPr>
                          <a:rPr lang="x-IV_mathan" altLang="zh-CN" i="1"/>
                        </m:ctrlPr>
                      </m:funcPr>
                      <m:fName>
                        <m:limLow>
                          <m:limLowPr>
                            <m:ctrlPr>
                              <a:rPr lang="x-IV_mathan" altLang="zh-CN" i="1"/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x-IV_mathan" altLang="zh-CN"/>
                              <m:t>max</m:t>
                            </m:r>
                          </m:e>
                          <m:lim>
                            <m:r>
                              <a:rPr lang="x-IV_mathan" altLang="zh-CN"/>
                              <m:t>𝑗</m:t>
                            </m:r>
                            <m:r>
                              <a:rPr lang="x-IV_mathan" altLang="zh-CN"/>
                              <m:t>∈</m:t>
                            </m:r>
                            <m:sSub>
                              <m:sSubPr>
                                <m:ctrlPr>
                                  <a:rPr lang="x-IV_mathan" altLang="zh-CN" i="1"/>
                                </m:ctrlPr>
                              </m:sSubPr>
                              <m:e>
                                <m:r>
                                  <a:rPr lang="x-IV_mathan" altLang="zh-CN"/>
                                  <m:t>𝑁</m:t>
                                </m:r>
                              </m:e>
                              <m:sub>
                                <m:r>
                                  <a:rPr lang="x-IV_mathan" altLang="zh-CN"/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x-IV_mathan" altLang="zh-CN" i="1"/>
                            </m:ctrlPr>
                          </m:dPr>
                          <m:e>
                            <m:r>
                              <a:rPr lang="x-IV_mathan" altLang="zh-CN"/>
                              <m:t>1+</m:t>
                            </m:r>
                            <m:sSub>
                              <m:sSubPr>
                                <m:ctrlPr>
                                  <a:rPr lang="x-IV_mathan" altLang="zh-CN" i="1"/>
                                </m:ctrlPr>
                              </m:sSubPr>
                              <m:e>
                                <m:r>
                                  <a:rPr lang="x-IV_mathan" altLang="zh-CN"/>
                                  <m:t>𝑤</m:t>
                                </m:r>
                              </m:e>
                              <m:sub>
                                <m:r>
                                  <a:rPr lang="x-IV_mathan" altLang="zh-CN"/>
                                  <m:t>𝜅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x-IV_mathan" altLang="zh-CN" i="1"/>
                                </m:ctrlPr>
                              </m:sSubPr>
                              <m:e>
                                <m:r>
                                  <a:rPr lang="x-IV_mathan" altLang="zh-CN"/>
                                  <m:t>𝑏</m:t>
                                </m:r>
                              </m:e>
                              <m:sub>
                                <m:r>
                                  <a:rPr lang="x-IV_mathan" altLang="zh-CN"/>
                                  <m:t>𝑖𝑗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zh-CN" i="1" dirty="0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func>
                    <m:r>
                      <a:rPr lang="x-IV_mathan" altLang="zh-CN"/>
                      <m:t>+</m:t>
                    </m:r>
                    <m:sSub>
                      <m:sSubPr>
                        <m:ctrlPr>
                          <a:rPr lang="x-IV_mathan" altLang="zh-CN" i="1"/>
                        </m:ctrlPr>
                      </m:sSubPr>
                      <m:e>
                        <m:r>
                          <a:rPr lang="x-IV_mathan" altLang="zh-CN"/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x-IV_mathan" altLang="zh-CN"/>
                          <m:t>age</m:t>
                        </m:r>
                      </m:sub>
                    </m:sSub>
                    <m:sSub>
                      <m:sSubPr>
                        <m:ctrlPr>
                          <a:rPr lang="x-IV_mathan" altLang="zh-CN" i="1"/>
                        </m:ctrlPr>
                      </m:sSubPr>
                      <m:e>
                        <m:r>
                          <a:rPr lang="x-IV_mathan" altLang="zh-CN"/>
                          <m:t>𝜏</m:t>
                        </m:r>
                      </m:e>
                      <m:sub>
                        <m:r>
                          <a:rPr lang="x-IV_mathan" altLang="zh-CN"/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score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转成初始概率：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𝑏𝑎𝑠𝑒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x-IV_mathan" altLang="zh-CN" i="1"/>
                        </m:ctrlPr>
                      </m:sSubPr>
                      <m:e>
                        <m:r>
                          <a:rPr lang="x-IV_mathan" altLang="zh-CN"/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x-IV_mathan" altLang="zh-CN"/>
                          <m:t>min</m:t>
                        </m:r>
                      </m:sub>
                    </m:sSub>
                    <m:r>
                      <a:rPr lang="x-IV_mathan" altLang="zh-CN"/>
                      <m:t>+</m:t>
                    </m:r>
                    <m:d>
                      <m:dPr>
                        <m:ctrlPr>
                          <a:rPr lang="x-IV_mathan" altLang="zh-CN" i="1"/>
                        </m:ctrlPr>
                      </m:dPr>
                      <m:e>
                        <m:sSub>
                          <m:sSubPr>
                            <m:ctrlPr>
                              <a:rPr lang="x-IV_mathan" altLang="zh-CN" i="1"/>
                            </m:ctrlPr>
                          </m:sSubPr>
                          <m:e>
                            <m:r>
                              <a:rPr lang="x-IV_mathan" altLang="zh-CN"/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x-IV_mathan" altLang="zh-CN"/>
                              <m:t>max</m:t>
                            </m:r>
                          </m:sub>
                        </m:sSub>
                        <m:r>
                          <a:rPr lang="x-IV_mathan" altLang="zh-CN"/>
                          <m:t>−</m:t>
                        </m:r>
                        <m:sSub>
                          <m:sSubPr>
                            <m:ctrlPr>
                              <a:rPr lang="x-IV_mathan" altLang="zh-CN" i="1"/>
                            </m:ctrlPr>
                          </m:sSubPr>
                          <m:e>
                            <m:r>
                              <a:rPr lang="x-IV_mathan" altLang="zh-CN"/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x-IV_mathan" altLang="zh-CN"/>
                              <m:t>min</m:t>
                            </m:r>
                          </m:sub>
                        </m:sSub>
                      </m:e>
                    </m:d>
                    <m:r>
                      <a:rPr lang="x-IV_mathan" altLang="zh-CN"/>
                      <m:t>𝜎</m:t>
                    </m:r>
                    <m:d>
                      <m:dPr>
                        <m:ctrlPr>
                          <a:rPr lang="x-IV_mathan" altLang="zh-CN" i="1"/>
                        </m:ctrlPr>
                      </m:dPr>
                      <m:e>
                        <m:f>
                          <m:fPr>
                            <m:ctrlPr>
                              <a:rPr lang="x-IV_mathan" altLang="zh-CN" i="1"/>
                            </m:ctrlPr>
                          </m:fPr>
                          <m:num>
                            <m:r>
                              <a:rPr lang="x-IV_mathan" altLang="zh-CN"/>
                              <m:t>𝑠𝑐𝑜𝑟</m:t>
                            </m:r>
                            <m:sSub>
                              <m:sSubPr>
                                <m:ctrlPr>
                                  <a:rPr lang="x-IV_mathan" altLang="zh-CN" i="1"/>
                                </m:ctrlPr>
                              </m:sSubPr>
                              <m:e>
                                <m:r>
                                  <a:rPr lang="x-IV_mathan" altLang="zh-CN"/>
                                  <m:t>𝑒</m:t>
                                </m:r>
                              </m:e>
                              <m:sub>
                                <m:r>
                                  <a:rPr lang="x-IV_mathan" altLang="zh-CN"/>
                                  <m:t>𝑖</m:t>
                                </m:r>
                              </m:sub>
                            </m:sSub>
                            <m:r>
                              <a:rPr lang="x-IV_mathan" altLang="zh-CN"/>
                              <m:t>−</m:t>
                            </m:r>
                            <m:r>
                              <a:rPr lang="x-IV_mathan" altLang="zh-CN"/>
                              <m:t>𝜃</m:t>
                            </m:r>
                          </m:num>
                          <m:den>
                            <m:r>
                              <a:rPr lang="x-IV_mathan" altLang="zh-CN"/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、考虑退避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1—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基于信道拥塞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0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b>
                              <m:sSubPr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考虑退避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2—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基于连续广播次数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sSub>
                          <m:sSubPr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B5AC662-181C-B60B-0AFA-5140332B2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06" y="3272675"/>
                <a:ext cx="7606238" cy="2961388"/>
              </a:xfrm>
              <a:prstGeom prst="rect">
                <a:avLst/>
              </a:prstGeom>
              <a:blipFill>
                <a:blip r:embed="rId5"/>
                <a:stretch>
                  <a:fillRect l="-1202" t="-1646" b="-2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CAE564-0288-678D-759C-F5997A928482}"/>
                  </a:ext>
                </a:extLst>
              </p:cNvPr>
              <p:cNvSpPr txBox="1"/>
              <p:nvPr/>
            </p:nvSpPr>
            <p:spPr>
              <a:xfrm>
                <a:off x="5034557" y="536377"/>
                <a:ext cx="3387924" cy="345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x-IV_mathan" altLang="zh-CN" sz="1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ˆ"/>
                            <m:ctrlPr>
                              <a:rPr lang="x-IV_mathan" altLang="zh-CN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x-IV_mathan" altLang="zh-CN" sz="120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x-IV_mathan" altLang="zh-CN" sz="120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x-IV_mathan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x-IV_mathan" altLang="zh-CN" sz="12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12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节点处缓存的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节点最新版本信息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DCCAE564-0288-678D-759C-F5997A92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557" y="536377"/>
                <a:ext cx="3387924" cy="345929"/>
              </a:xfrm>
              <a:prstGeom prst="rect">
                <a:avLst/>
              </a:prstGeom>
              <a:blipFill>
                <a:blip r:embed="rId6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43303C-9713-E161-0176-655EF2E1DD04}"/>
                  </a:ext>
                </a:extLst>
              </p:cNvPr>
              <p:cNvSpPr txBox="1"/>
              <p:nvPr/>
            </p:nvSpPr>
            <p:spPr>
              <a:xfrm>
                <a:off x="7572714" y="5725200"/>
                <a:ext cx="422876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12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2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congestion_backoff_weight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，越大越惩罚拥塞；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120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2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attempt_backoff_factor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，越小越抑制连续发送；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x-IV_mathan" altLang="zh-CN" sz="120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threshold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，可用于控制广播总量；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x-IV_mathan" altLang="zh-CN" sz="120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temperature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，控制节点分数之间的区分强度</a:t>
                </a:r>
                <a:endParaRPr lang="zh-CN" altLang="en-US" sz="1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443303C-9713-E161-0176-655EF2E1D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714" y="5725200"/>
                <a:ext cx="4228761" cy="830997"/>
              </a:xfrm>
              <a:prstGeom prst="rect">
                <a:avLst/>
              </a:prstGeom>
              <a:blipFill>
                <a:blip r:embed="rId7"/>
                <a:stretch>
                  <a:fillRect b="-4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4C96095-C432-BCA5-85FE-98C508FD6A73}"/>
                  </a:ext>
                </a:extLst>
              </p:cNvPr>
              <p:cNvSpPr txBox="1"/>
              <p:nvPr/>
            </p:nvSpPr>
            <p:spPr>
              <a:xfrm>
                <a:off x="1226343" y="6234063"/>
                <a:ext cx="4738688" cy="410562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1800" i="0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1800" i="0" dirty="0" smtClean="0">
                              <a:latin typeface="Cambria Math" panose="02040503050406030204" pitchFamily="18" charset="0"/>
                            </a:rPr>
                            <m:t>clip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1800" i="0" dirty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0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zh-CN" alt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1800" i="1" dirty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sSup>
                                <m:sSupPr>
                                  <m:ctrlP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1800" i="1" dirty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zh-CN" altLang="en-US" sz="18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800" i="0" dirty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  <m:r>
                                <a:rPr lang="zh-CN" altLang="en-US" sz="18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sz="1800" i="0" dirty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4C96095-C432-BCA5-85FE-98C508FD6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343" y="6234063"/>
                <a:ext cx="4738688" cy="410562"/>
              </a:xfrm>
              <a:prstGeom prst="rect">
                <a:avLst/>
              </a:prstGeom>
              <a:blipFill>
                <a:blip r:embed="rId8"/>
                <a:stretch>
                  <a:fillRect b="-7246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966B4C8-5001-41FF-D75B-13FB8D2EA716}"/>
                  </a:ext>
                </a:extLst>
              </p:cNvPr>
              <p:cNvSpPr txBox="1"/>
              <p:nvPr/>
            </p:nvSpPr>
            <p:spPr>
              <a:xfrm>
                <a:off x="0" y="7001045"/>
                <a:ext cx="8166107" cy="13431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节点若上一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slot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为发送则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不变；为接收则会更新：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zh-CN" altLang="en-US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func>
                      <m:func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zh-CN" dirty="0"/>
              </a:p>
              <a:p>
                <a:pPr/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是噪声功率，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控制历史平滑程度。</a:t>
                </a:r>
                <a:b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为除最强被接收的广播信号外，其余所有信号的接收功率之和。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966B4C8-5001-41FF-D75B-13FB8D2E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001045"/>
                <a:ext cx="8166107" cy="1343188"/>
              </a:xfrm>
              <a:prstGeom prst="rect">
                <a:avLst/>
              </a:prstGeom>
              <a:blipFill>
                <a:blip r:embed="rId9"/>
                <a:stretch>
                  <a:fillRect l="-597" t="-2262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44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769CAE8-37AA-83F1-F822-FB80D427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3" y="0"/>
            <a:ext cx="9441493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A37F1FA-B317-5578-AEC3-F67EDCCEA4B1}"/>
              </a:ext>
            </a:extLst>
          </p:cNvPr>
          <p:cNvSpPr txBox="1"/>
          <p:nvPr/>
        </p:nvSpPr>
        <p:spPr>
          <a:xfrm>
            <a:off x="9713545" y="1389378"/>
            <a:ext cx="24784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在相近的广播次数下，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性能最好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15C0C6-05E0-4BAA-D2A6-100959F818A3}"/>
              </a:ext>
            </a:extLst>
          </p:cNvPr>
          <p:cNvSpPr txBox="1"/>
          <p:nvPr/>
        </p:nvSpPr>
        <p:spPr>
          <a:xfrm>
            <a:off x="4998721" y="360678"/>
            <a:ext cx="258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P_u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=0.05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7088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2C4ACF-6106-BCAE-5D9B-C2AAD51E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" y="0"/>
            <a:ext cx="9516649" cy="6858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4709A2-90FE-FAE8-CB3C-5134C4CEB41C}"/>
              </a:ext>
            </a:extLst>
          </p:cNvPr>
          <p:cNvSpPr txBox="1"/>
          <p:nvPr/>
        </p:nvSpPr>
        <p:spPr>
          <a:xfrm>
            <a:off x="4998721" y="360678"/>
            <a:ext cx="2583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P_u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=0.20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35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8401213-810E-97F5-CFC0-895F5AA4B3ED}"/>
              </a:ext>
            </a:extLst>
          </p:cNvPr>
          <p:cNvSpPr txBox="1"/>
          <p:nvPr/>
        </p:nvSpPr>
        <p:spPr>
          <a:xfrm>
            <a:off x="287606" y="1413151"/>
            <a:ext cx="11416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policy | </a:t>
            </a:r>
            <a:r>
              <a:rPr lang="en-US" altLang="zh-CN" dirty="0" err="1"/>
              <a:t>mean_VAoI</a:t>
            </a:r>
            <a:r>
              <a:rPr lang="en-US" altLang="zh-CN" dirty="0"/>
              <a:t> | </a:t>
            </a:r>
            <a:r>
              <a:rPr lang="en-US" altLang="zh-CN" dirty="0" err="1"/>
              <a:t>mean_max_VAoI</a:t>
            </a:r>
            <a:r>
              <a:rPr lang="en-US" altLang="zh-CN" dirty="0"/>
              <a:t> | p95_max_VAoI | </a:t>
            </a:r>
            <a:r>
              <a:rPr lang="en-US" altLang="zh-CN" dirty="0" err="1"/>
              <a:t>avg_tx_per_slot</a:t>
            </a:r>
            <a:r>
              <a:rPr lang="en-US" altLang="zh-CN" dirty="0"/>
              <a:t> | </a:t>
            </a:r>
            <a:r>
              <a:rPr lang="en-US" altLang="zh-CN" dirty="0" err="1"/>
              <a:t>successful_decodes_per_tx</a:t>
            </a:r>
            <a:endParaRPr lang="en-US" altLang="zh-CN" dirty="0"/>
          </a:p>
          <a:p>
            <a:r>
              <a:rPr lang="zh-CN" altLang="en-US" dirty="0"/>
              <a:t>freshness_backoff | 8.29842 | 29.5625 | 38.3333 | 9.76912 | 5.39075</a:t>
            </a:r>
          </a:p>
          <a:p>
            <a:r>
              <a:rPr lang="zh-CN" altLang="en-US" dirty="0"/>
              <a:t>orc_freshness_backoff | 7.73416 | 27.6758 | 35.3333 | 10.4337 | 5.20958</a:t>
            </a:r>
          </a:p>
          <a:p>
            <a:r>
              <a:rPr lang="zh-CN" altLang="en-US" dirty="0"/>
              <a:t>random | 11.0612 | 37.007 | 53.5167 | 17.953 | 3.25112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308A70-EDA6-091C-6B7C-F9BEA5A22B0E}"/>
              </a:ext>
            </a:extLst>
          </p:cNvPr>
          <p:cNvSpPr txBox="1"/>
          <p:nvPr/>
        </p:nvSpPr>
        <p:spPr>
          <a:xfrm>
            <a:off x="287605" y="3851088"/>
            <a:ext cx="7586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freshness_backoff | 8.33242 | 29.4744 | 38 | 9.87018 | 5.35892</a:t>
            </a:r>
          </a:p>
          <a:p>
            <a:r>
              <a:rPr lang="zh-CN" altLang="en-US" dirty="0"/>
              <a:t>orc_freshness_backoff | 7.75543 | 27.6011 | 34.6667 | 10.534 | 5.1756</a:t>
            </a:r>
          </a:p>
          <a:p>
            <a:r>
              <a:rPr lang="zh-CN" altLang="en-US" dirty="0"/>
              <a:t>random | 11.0612 | 37.007 | 53.5167 | 17.953 | 3.25112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9BFA1E4-4478-3648-52AF-A958C04F7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184587"/>
              </p:ext>
            </p:extLst>
          </p:nvPr>
        </p:nvGraphicFramePr>
        <p:xfrm>
          <a:off x="287605" y="369170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0.90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C4FAB3B2-8608-CC2D-6227-F31FAAD2F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213111"/>
              </p:ext>
            </p:extLst>
          </p:nvPr>
        </p:nvGraphicFramePr>
        <p:xfrm>
          <a:off x="287605" y="2786510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23218076-5005-DAD6-B76B-D09815ADF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268627"/>
              </p:ext>
            </p:extLst>
          </p:nvPr>
        </p:nvGraphicFramePr>
        <p:xfrm>
          <a:off x="287605" y="5060560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10A794F6-1756-3252-47A1-FB6EA2A6262D}"/>
              </a:ext>
            </a:extLst>
          </p:cNvPr>
          <p:cNvSpPr txBox="1"/>
          <p:nvPr/>
        </p:nvSpPr>
        <p:spPr>
          <a:xfrm>
            <a:off x="287605" y="6071480"/>
            <a:ext cx="9330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freshness_backoff | 4.34595 | 17.4923 | 23 | 8.21088 | 5.94705</a:t>
            </a:r>
          </a:p>
          <a:p>
            <a:r>
              <a:rPr lang="zh-CN" altLang="en-US" dirty="0"/>
              <a:t>orc_freshness_backoff | 3.8942 | 15.9239 | 21.6667 | 8.87193 | 5.75245</a:t>
            </a:r>
          </a:p>
          <a:p>
            <a:r>
              <a:rPr lang="zh-CN" altLang="en-US" dirty="0"/>
              <a:t>random | 5.50023 | 20.8347 | 30.1833 | 17.953 | 3.25112</a:t>
            </a:r>
          </a:p>
        </p:txBody>
      </p:sp>
    </p:spTree>
    <p:extLst>
      <p:ext uri="{BB962C8B-B14F-4D97-AF65-F5344CB8AC3E}">
        <p14:creationId xmlns:p14="http://schemas.microsoft.com/office/powerpoint/2010/main" val="425408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94ACA-97A1-980C-A2B8-C93927C8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FF81043C-EA42-9DF5-4F2A-5E3479F5E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997892"/>
              </p:ext>
            </p:extLst>
          </p:nvPr>
        </p:nvGraphicFramePr>
        <p:xfrm>
          <a:off x="287605" y="249409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D0FA6432-1747-1854-91F7-62B1C2225810}"/>
              </a:ext>
            </a:extLst>
          </p:cNvPr>
          <p:cNvSpPr txBox="1"/>
          <p:nvPr/>
        </p:nvSpPr>
        <p:spPr>
          <a:xfrm>
            <a:off x="287605" y="1260329"/>
            <a:ext cx="9330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freshness_backoff | 4.34595 | 17.4923 | 23 | 8.21088 | 5.94705</a:t>
            </a:r>
          </a:p>
          <a:p>
            <a:r>
              <a:rPr lang="zh-CN" altLang="en-US" dirty="0"/>
              <a:t>orc_freshness_backoff | 3.8942 | 15.9239 | 21.6667 | 8.87193 | 5.75245</a:t>
            </a:r>
          </a:p>
          <a:p>
            <a:r>
              <a:rPr lang="zh-CN" altLang="en-US" dirty="0"/>
              <a:t>random | 5.50023 | 20.8347 | 30.1833 | 17.953 | 3.25112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5120655-0009-F230-F816-747833173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468310"/>
              </p:ext>
            </p:extLst>
          </p:nvPr>
        </p:nvGraphicFramePr>
        <p:xfrm>
          <a:off x="287605" y="2418080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43BCBFDF-1BC0-D1B1-A110-53AAC370CE17}"/>
              </a:ext>
            </a:extLst>
          </p:cNvPr>
          <p:cNvSpPr txBox="1"/>
          <p:nvPr/>
        </p:nvSpPr>
        <p:spPr>
          <a:xfrm>
            <a:off x="287605" y="3429000"/>
            <a:ext cx="9330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freshness_backoff</a:t>
            </a:r>
            <a:r>
              <a:rPr lang="en-US" altLang="zh-CN" dirty="0"/>
              <a:t> | 4.34595 | 17.4923 | 23 | 8.21088 | 5.94705</a:t>
            </a:r>
          </a:p>
          <a:p>
            <a:r>
              <a:rPr lang="en-US" altLang="zh-CN" dirty="0" err="1"/>
              <a:t>orc_freshness_backoff</a:t>
            </a:r>
            <a:r>
              <a:rPr lang="en-US" altLang="zh-CN" dirty="0"/>
              <a:t> | 3.85496 | 15.786 | 21.5167 | 9.12702 | 5.66069</a:t>
            </a:r>
          </a:p>
          <a:p>
            <a:r>
              <a:rPr lang="en-US" altLang="zh-CN" dirty="0"/>
              <a:t>random | 5.50023 | 20.8347 | 30.1833 | 17.953 | 3.25112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8FE5B63-ED2C-95CD-617E-9967B6F18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352895"/>
              </p:ext>
            </p:extLst>
          </p:nvPr>
        </p:nvGraphicFramePr>
        <p:xfrm>
          <a:off x="287605" y="4586751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72C8C24-68A2-649E-A5DF-17EBF90A26DC}"/>
              </a:ext>
            </a:extLst>
          </p:cNvPr>
          <p:cNvSpPr txBox="1"/>
          <p:nvPr/>
        </p:nvSpPr>
        <p:spPr>
          <a:xfrm>
            <a:off x="287605" y="5597671"/>
            <a:ext cx="9330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freshness_backoff</a:t>
            </a:r>
            <a:r>
              <a:rPr lang="en-US" altLang="zh-CN" dirty="0"/>
              <a:t> | 4.20464 | 16.6379 | 21 | 8.77368 | 5.74849</a:t>
            </a:r>
          </a:p>
          <a:p>
            <a:r>
              <a:rPr lang="en-US" altLang="zh-CN" dirty="0" err="1"/>
              <a:t>orc_freshness_backoff</a:t>
            </a:r>
            <a:r>
              <a:rPr lang="en-US" altLang="zh-CN" dirty="0"/>
              <a:t> | 3.82309 | 15.6568 | 21 | 9.02807 | 5.69959</a:t>
            </a:r>
          </a:p>
          <a:p>
            <a:r>
              <a:rPr lang="en-US" altLang="zh-CN" dirty="0"/>
              <a:t>random | 5.50023 | 20.8347 | 30.1833 | 17.953 | 3.25112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07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3212-303A-B5EA-B68A-E93052AA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A8498155-EF0A-C4CE-5D55-83E0A1912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930250"/>
              </p:ext>
            </p:extLst>
          </p:nvPr>
        </p:nvGraphicFramePr>
        <p:xfrm>
          <a:off x="287605" y="249409"/>
          <a:ext cx="10741465" cy="1010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4930">
                  <a:extLst>
                    <a:ext uri="{9D8B030D-6E8A-4147-A177-3AD203B41FA5}">
                      <a16:colId xmlns:a16="http://schemas.microsoft.com/office/drawing/2014/main" val="3978037689"/>
                    </a:ext>
                  </a:extLst>
                </a:gridCol>
                <a:gridCol w="896166">
                  <a:extLst>
                    <a:ext uri="{9D8B030D-6E8A-4147-A177-3AD203B41FA5}">
                      <a16:colId xmlns:a16="http://schemas.microsoft.com/office/drawing/2014/main" val="3690039321"/>
                    </a:ext>
                  </a:extLst>
                </a:gridCol>
                <a:gridCol w="1580090">
                  <a:extLst>
                    <a:ext uri="{9D8B030D-6E8A-4147-A177-3AD203B41FA5}">
                      <a16:colId xmlns:a16="http://schemas.microsoft.com/office/drawing/2014/main" val="3306072874"/>
                    </a:ext>
                  </a:extLst>
                </a:gridCol>
                <a:gridCol w="978568">
                  <a:extLst>
                    <a:ext uri="{9D8B030D-6E8A-4147-A177-3AD203B41FA5}">
                      <a16:colId xmlns:a16="http://schemas.microsoft.com/office/drawing/2014/main" val="1637220668"/>
                    </a:ext>
                  </a:extLst>
                </a:gridCol>
                <a:gridCol w="1402776">
                  <a:extLst>
                    <a:ext uri="{9D8B030D-6E8A-4147-A177-3AD203B41FA5}">
                      <a16:colId xmlns:a16="http://schemas.microsoft.com/office/drawing/2014/main" val="1299138137"/>
                    </a:ext>
                  </a:extLst>
                </a:gridCol>
                <a:gridCol w="867696">
                  <a:extLst>
                    <a:ext uri="{9D8B030D-6E8A-4147-A177-3AD203B41FA5}">
                      <a16:colId xmlns:a16="http://schemas.microsoft.com/office/drawing/2014/main" val="3801103070"/>
                    </a:ext>
                  </a:extLst>
                </a:gridCol>
                <a:gridCol w="1692010">
                  <a:extLst>
                    <a:ext uri="{9D8B030D-6E8A-4147-A177-3AD203B41FA5}">
                      <a16:colId xmlns:a16="http://schemas.microsoft.com/office/drawing/2014/main" val="4042415569"/>
                    </a:ext>
                  </a:extLst>
                </a:gridCol>
                <a:gridCol w="1580465">
                  <a:extLst>
                    <a:ext uri="{9D8B030D-6E8A-4147-A177-3AD203B41FA5}">
                      <a16:colId xmlns:a16="http://schemas.microsoft.com/office/drawing/2014/main" val="2047208367"/>
                    </a:ext>
                  </a:extLst>
                </a:gridCol>
                <a:gridCol w="1088764">
                  <a:extLst>
                    <a:ext uri="{9D8B030D-6E8A-4147-A177-3AD203B41FA5}">
                      <a16:colId xmlns:a16="http://schemas.microsoft.com/office/drawing/2014/main" val="4142932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  <a:p>
                      <a:pPr algn="ctr"/>
                      <a:r>
                        <a:rPr lang="en-US" altLang="zh-CN" dirty="0"/>
                        <a:t>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q_min</a:t>
                      </a:r>
                      <a:r>
                        <a:rPr lang="en-US" altLang="zh-CN" dirty="0"/>
                        <a:t>-max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age_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threshold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temperature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congestion_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backoff_weight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attempt_</a:t>
                      </a:r>
                      <a:br>
                        <a:rPr lang="en-US" altLang="zh-CN" dirty="0"/>
                      </a:br>
                      <a:r>
                        <a:rPr lang="zh-CN" altLang="zh-CN" dirty="0"/>
                        <a:t>backoff_factor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curvature_weight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451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0.01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zh-CN" dirty="0"/>
                        <a:t> 0.45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0.003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dirty="0"/>
                        <a:t>0.08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0.75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9513840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EB1A7E93-CBCD-15B1-B491-3134C6EAB6BB}"/>
              </a:ext>
            </a:extLst>
          </p:cNvPr>
          <p:cNvSpPr txBox="1"/>
          <p:nvPr/>
        </p:nvSpPr>
        <p:spPr>
          <a:xfrm>
            <a:off x="287605" y="1260329"/>
            <a:ext cx="93303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freshness_backoff</a:t>
            </a:r>
            <a:r>
              <a:rPr lang="en-US" altLang="zh-CN" dirty="0"/>
              <a:t> | 2.26661 | 10.7867 | 14.3333 | 7.30632 | 6.29216</a:t>
            </a:r>
          </a:p>
          <a:p>
            <a:r>
              <a:rPr lang="en-US" altLang="zh-CN" dirty="0" err="1"/>
              <a:t>orc_freshness_backoff</a:t>
            </a:r>
            <a:r>
              <a:rPr lang="en-US" altLang="zh-CN" dirty="0"/>
              <a:t> | 2.04306 | 9.53263 | 12.3333 | 7.49018 | 6.2608</a:t>
            </a:r>
          </a:p>
          <a:p>
            <a:r>
              <a:rPr lang="en-US" altLang="zh-CN" dirty="0"/>
              <a:t>random | 2.06997 | 9.85158 | 13 | 10.0119 | 5.32788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DA820E-F5AC-E44E-CE31-58C260CF0D80}"/>
              </a:ext>
            </a:extLst>
          </p:cNvPr>
          <p:cNvSpPr txBox="1"/>
          <p:nvPr/>
        </p:nvSpPr>
        <p:spPr>
          <a:xfrm>
            <a:off x="287605" y="2151378"/>
            <a:ext cx="9330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random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性能相近，但所需广播次数更少</a:t>
            </a:r>
          </a:p>
        </p:txBody>
      </p:sp>
    </p:spTree>
    <p:extLst>
      <p:ext uri="{BB962C8B-B14F-4D97-AF65-F5344CB8AC3E}">
        <p14:creationId xmlns:p14="http://schemas.microsoft.com/office/powerpoint/2010/main" val="93649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1099</Words>
  <Application>Microsoft Office PowerPoint</Application>
  <PresentationFormat>宽屏</PresentationFormat>
  <Paragraphs>180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张梦菲</dc:creator>
  <cp:lastModifiedBy>张梦菲</cp:lastModifiedBy>
  <cp:revision>9</cp:revision>
  <dcterms:created xsi:type="dcterms:W3CDTF">2026-07-15T14:54:06Z</dcterms:created>
  <dcterms:modified xsi:type="dcterms:W3CDTF">2026-07-16T08:09:58Z</dcterms:modified>
</cp:coreProperties>
</file>