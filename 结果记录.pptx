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9" r:id="rId2"/>
    <p:sldId id="260" r:id="rId3"/>
    <p:sldId id="261" r:id="rId4"/>
    <p:sldId id="262" r:id="rId5"/>
    <p:sldId id="263" r:id="rId6"/>
    <p:sldId id="256" r:id="rId7"/>
    <p:sldId id="257" r:id="rId8"/>
    <p:sldId id="258" r:id="rId9"/>
    <p:sldId id="264" r:id="rId10"/>
    <p:sldId id="265" r:id="rId11"/>
    <p:sldId id="267" r:id="rId12"/>
    <p:sldId id="266" r:id="rId13"/>
    <p:sldId id="268" r:id="rId1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901852DE-D932-460B-933A-8A6935CB0300}">
          <p14:sldIdLst>
            <p14:sldId id="259"/>
            <p14:sldId id="260"/>
            <p14:sldId id="261"/>
            <p14:sldId id="262"/>
            <p14:sldId id="263"/>
            <p14:sldId id="256"/>
            <p14:sldId id="257"/>
            <p14:sldId id="258"/>
          </p14:sldIdLst>
        </p14:section>
        <p14:section name="cells" id="{5E9D0C06-0BDE-4358-8B0C-3704F4D26DB4}">
          <p14:sldIdLst>
            <p14:sldId id="264"/>
            <p14:sldId id="265"/>
            <p14:sldId id="267"/>
            <p14:sldId id="266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93D81CF-94F2-401A-BA57-92F5A7B2D0C5}" styleName="中度样式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1FECB4D8-DB02-4DC6-A0A2-4F2EBAE1DC90}" styleName="中度样式 1 - 强调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75783" autoAdjust="0"/>
  </p:normalViewPr>
  <p:slideViewPr>
    <p:cSldViewPr snapToGrid="0">
      <p:cViewPr varScale="1">
        <p:scale>
          <a:sx n="86" d="100"/>
          <a:sy n="86" d="100"/>
        </p:scale>
        <p:origin x="1867" y="62"/>
      </p:cViewPr>
      <p:guideLst/>
    </p:cSldViewPr>
  </p:slideViewPr>
  <p:notesTextViewPr>
    <p:cViewPr>
      <p:scale>
        <a:sx n="1" d="1"/>
        <a:sy n="1" d="1"/>
      </p:scale>
      <p:origin x="0" y="-206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2D4606-A149-4551-84EE-54B2755AE889}" type="datetimeFigureOut">
              <a:rPr lang="zh-CN" altLang="en-US" smtClean="0"/>
              <a:t>2026/7/21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49CDDF-5849-475B-8FE8-CAF368895B8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5948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curvature-gossip\scripts\plot_multi_vaoi_vs_transmissions.py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49CDDF-5849-475B-8FE8-CAF368895B88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406308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5EDC19-265D-8EA2-4C55-09CB369FE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109514C-2DF8-BE17-F0B4-74DDC46FF7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05C0DD3-5DFA-E4AE-AADE-1DBFD5B9BE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curvature-gossip\scripts\plot_multi_vaoi_vs_transmissions.py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7942B5F-0C36-D719-981A-5BC81C9703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49CDDF-5849-475B-8FE8-CAF368895B88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72766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B001F-9DA7-CB63-4523-8FA31FCF2D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B736C66-4047-A29F-2967-BC42F4E25E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备注占位符 2">
                <a:extLst>
                  <a:ext uri="{FF2B5EF4-FFF2-40B4-BE49-F238E27FC236}">
                    <a16:creationId xmlns:a16="http://schemas.microsoft.com/office/drawing/2014/main" id="{56705E5F-AC4D-15C7-2C33-3DCA972C702B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zh-CN" altLang="zh-CN" dirty="0"/>
                  <a:t>每个目标细胞数单独建立候选集合</a:t>
                </a:r>
                <a:endParaRPr lang="en-US" altLang="zh-CN" dirty="0"/>
              </a:p>
              <a:p>
                <a:endParaRPr lang="en-US" altLang="zh-CN" dirty="0"/>
              </a:p>
              <a:p>
                <a:r>
                  <a:rPr lang="zh-CN" altLang="zh-CN" dirty="0"/>
                  <a:t>基本记录单位为：</a:t>
                </a:r>
                <a14:m>
                  <m:oMath xmlns:m="http://schemas.openxmlformats.org/officeDocument/2006/math">
                    <m:d>
                      <m:dPr>
                        <m:sepChr m:val=","/>
                        <m:ctrlPr>
                          <a:rPr lang="zh-CN" altLang="en-US" sz="1200" b="0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altLang="zh-CN" sz="1200" b="0" i="0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target</m:t>
                        </m:r>
                        <m:r>
                          <m:rPr>
                            <m:nor/>
                          </m:rPr>
                          <a:rPr lang="en-US" altLang="zh-CN" sz="1200" b="0" i="0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altLang="zh-CN" sz="1200" b="0" i="0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cell</m:t>
                        </m:r>
                        <m:r>
                          <m:rPr>
                            <m:nor/>
                          </m:rPr>
                          <a:rPr lang="en-US" altLang="zh-CN" sz="1200" b="0" i="0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altLang="zh-CN" sz="1200" b="0" i="0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count</m:t>
                        </m:r>
                      </m:e>
                      <m:e>
                        <m:r>
                          <m:rPr>
                            <m:nor/>
                          </m:rPr>
                          <a:rPr lang="en-US" altLang="zh-CN" sz="1200" b="0" i="0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embryo</m:t>
                        </m:r>
                      </m:e>
                      <m:e>
                        <m:r>
                          <m:rPr>
                            <m:nor/>
                          </m:rPr>
                          <a:rPr lang="en-US" altLang="zh-CN" sz="1200" b="0" i="0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cell</m:t>
                        </m:r>
                        <m:r>
                          <m:rPr>
                            <m:nor/>
                          </m:rPr>
                          <a:rPr lang="en-US" altLang="zh-CN" sz="1200" b="0" i="0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altLang="zh-CN" sz="1200" b="0" i="0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name</m:t>
                        </m:r>
                      </m:e>
                    </m:d>
                  </m:oMath>
                </a14:m>
                <a:endParaRPr lang="zh-CN" altLang="en-US" b="0" dirty="0"/>
              </a:p>
              <a:p>
                <a:r>
                  <a:rPr lang="zh-CN" altLang="zh-CN" dirty="0"/>
                  <a:t>每条记录表示：某个同名细胞，在某个胚胎、某个目标细胞数附近的一次观测。</a:t>
                </a:r>
                <a:endParaRPr lang="en-US" altLang="zh-CN" dirty="0"/>
              </a:p>
              <a:p>
                <a:endParaRPr lang="en-US" altLang="zh-CN" dirty="0"/>
              </a:p>
              <a:p>
                <a:endParaRPr lang="en-US" altLang="zh-CN" dirty="0"/>
              </a:p>
              <a:p>
                <a:r>
                  <a:rPr lang="zh-CN" altLang="zh-CN" dirty="0"/>
                  <a:t>在 bottom-10% 主分析下，共有 131 个 null A 下的重复瓶颈候选：2/5/8/20/29/67 个，分别对应 target 16/26/50/100/200/350。</a:t>
                </a:r>
                <a:endParaRPr lang="en-US" altLang="zh-CN" dirty="0"/>
              </a:p>
              <a:p>
                <a:r>
                  <a:rPr lang="zh-CN" altLang="zh-CN" dirty="0"/>
                  <a:t>在 target 16–350 的多个尺度上，一批同名细胞比“仅保留帧内名称集合、随机打乱名称位置”的 null A 更稳定地位于强负曲率边端点。</a:t>
                </a:r>
              </a:p>
              <a:p>
                <a:endParaRPr lang="zh-CN" altLang="en-US" dirty="0"/>
              </a:p>
            </p:txBody>
          </p:sp>
        </mc:Choice>
        <mc:Fallback>
          <p:sp>
            <p:nvSpPr>
              <p:cNvPr id="3" name="备注占位符 2">
                <a:extLst>
                  <a:ext uri="{FF2B5EF4-FFF2-40B4-BE49-F238E27FC236}">
                    <a16:creationId xmlns:a16="http://schemas.microsoft.com/office/drawing/2014/main" id="{56705E5F-AC4D-15C7-2C33-3DCA972C702B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zh-CN" altLang="zh-CN" dirty="0"/>
                  <a:t>每个目标细胞数单独建立候选集合</a:t>
                </a:r>
                <a:endParaRPr lang="en-US" altLang="zh-CN" dirty="0"/>
              </a:p>
              <a:p>
                <a:endParaRPr lang="en-US" altLang="zh-CN" dirty="0"/>
              </a:p>
              <a:p>
                <a:r>
                  <a:rPr lang="zh-CN" altLang="zh-CN" dirty="0"/>
                  <a:t>基本记录单位为：</a:t>
                </a:r>
                <a:r>
                  <a:rPr lang="zh-CN" altLang="en-US" sz="1200" b="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(</a:t>
                </a:r>
                <a:r>
                  <a:rPr lang="en-US" altLang="zh-CN" sz="1200" b="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"target cell count</a:t>
                </a:r>
                <a:r>
                  <a:rPr lang="zh-CN" altLang="en-US" sz="1200" b="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" ⓜ,</a:t>
                </a:r>
                <a:r>
                  <a:rPr lang="en-US" altLang="zh-CN" sz="1200" b="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"embryo</a:t>
                </a:r>
                <a:r>
                  <a:rPr lang="zh-CN" altLang="en-US" sz="1200" b="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" ⓜ,</a:t>
                </a:r>
                <a:r>
                  <a:rPr lang="en-US" altLang="zh-CN" sz="1200" b="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"cell name</a:t>
                </a:r>
                <a:r>
                  <a:rPr lang="zh-CN" altLang="en-US" sz="1200" b="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" )</a:t>
                </a:r>
                <a:endParaRPr lang="zh-CN" altLang="en-US" b="0" dirty="0"/>
              </a:p>
              <a:p>
                <a:r>
                  <a:rPr lang="zh-CN" altLang="zh-CN" dirty="0"/>
                  <a:t>每条记录表示：某个同名细胞，在某个胚胎、某个目标细胞数附近的一次观测。</a:t>
                </a:r>
                <a:endParaRPr lang="en-US" altLang="zh-CN" dirty="0"/>
              </a:p>
              <a:p>
                <a:endParaRPr lang="en-US" altLang="zh-CN" dirty="0"/>
              </a:p>
              <a:p>
                <a:endParaRPr lang="en-US" altLang="zh-CN" dirty="0"/>
              </a:p>
              <a:p>
                <a:r>
                  <a:rPr lang="zh-CN" altLang="zh-CN" dirty="0"/>
                  <a:t>在 bottom-10% 主分析下，共有 131 个 null A 下的重复瓶颈候选：2/5/8/20/29/67 个，分别对应 target 16/26/50/100/200/350。</a:t>
                </a:r>
                <a:endParaRPr lang="en-US" altLang="zh-CN" dirty="0"/>
              </a:p>
              <a:p>
                <a:r>
                  <a:rPr lang="zh-CN" altLang="zh-CN" dirty="0"/>
                  <a:t>在 target 16–350 的多个尺度上，一批同名细胞比“仅保留帧内名称集合、随机打乱名称位置”的 null A 更稳定地位于强负曲率边端点。</a:t>
                </a:r>
              </a:p>
              <a:p>
                <a:endParaRPr lang="zh-CN" altLang="en-US" dirty="0"/>
              </a:p>
            </p:txBody>
          </p:sp>
        </mc:Fallback>
      </mc:AlternateContent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575AD2B-050C-E75A-3CAD-81A1E4EAF1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49CDDF-5849-475B-8FE8-CAF368895B88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181578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49CDDF-5849-475B-8FE8-CAF368895B88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40664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AC5661-CD79-30E5-0EE4-91E05ED44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A5EFFB9-EC59-75ED-5338-CD4184C05F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F732499-98CB-3F99-3FE8-A146192F21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F48B72A-F0EB-6AD2-0308-F6ECF4D97C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49CDDF-5849-475B-8FE8-CAF368895B88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8608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0957557-4A74-D9D9-60AA-021F576379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63593381-0407-B182-7BC1-DE997CC02F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EB5DC17-7CE0-7D72-4720-6E6F549706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942E1-4ABA-40AE-AFC6-AEEA76844A86}" type="datetimeFigureOut">
              <a:rPr lang="zh-CN" altLang="en-US" smtClean="0"/>
              <a:t>2026/7/21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B23482B-B895-25F2-DC50-39F2E7F639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D44E1A1-D962-9E58-67EC-D501BABB21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FCCB0A-5E84-49DC-99B5-DC96147790D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068092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92E0D38-0894-6304-55F2-ED9AE9CEA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66DE406-D08C-10FC-5243-14F027A0B3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3563881-AB56-DA67-F14E-D2673E6EF2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942E1-4ABA-40AE-AFC6-AEEA76844A86}" type="datetimeFigureOut">
              <a:rPr lang="zh-CN" altLang="en-US" smtClean="0"/>
              <a:t>2026/7/21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F2ED632-0F83-620E-4FDD-92D2CCE1D9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832B2C4-5145-72CA-74F0-C704F063C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FCCB0A-5E84-49DC-99B5-DC96147790D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331712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D6C30F2-C3CA-D9B2-2D4C-30B7D602FD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BA1604D-2DC6-A0F6-D724-CE4774BF96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9D7FDCF-E1BA-B8EE-7EDA-9C14074790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942E1-4ABA-40AE-AFC6-AEEA76844A86}" type="datetimeFigureOut">
              <a:rPr lang="zh-CN" altLang="en-US" smtClean="0"/>
              <a:t>2026/7/21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EC38B6C-00A8-3DE4-F306-5D1B675014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8489966-E498-2A94-FB9F-599638B1F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FCCB0A-5E84-49DC-99B5-DC96147790D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98308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4EF397-11D6-6967-FE4E-9A3735A5FD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C237744-80E3-CBA6-79D5-F26DF0F757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5A88525-439E-5444-6EDC-6F2F76DDEF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AB8496F-67DE-B13F-C617-E637E0891D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942E1-4ABA-40AE-AFC6-AEEA76844A86}" type="datetimeFigureOut">
              <a:rPr lang="zh-CN" altLang="en-US" smtClean="0"/>
              <a:t>2026/7/21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8696737-B7AE-42E6-1608-3B141F9F46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4CF8E80-7648-8F1E-0FB4-745BD354E6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FCCB0A-5E84-49DC-99B5-DC96147790D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986625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67BB166-E0C5-BA9C-ABFD-6CDB58B9EF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2B26301-7BBA-BF57-C7EA-38D2C66F74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62AE876-4A6F-D688-4BAD-4F1C1C3B99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1CE74C8-A512-75C0-AECF-5492856113D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C3055BD4-DBF9-749A-9CA1-D94441A6C92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114B7921-55FA-CE19-4B7F-724CAC5753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942E1-4ABA-40AE-AFC6-AEEA76844A86}" type="datetimeFigureOut">
              <a:rPr lang="zh-CN" altLang="en-US" smtClean="0"/>
              <a:t>2026/7/21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0D1F4CD6-87E9-B5B1-9E0D-2045EA0EBA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2C2C9E78-CCD0-0EE9-7247-E36D2349A3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FCCB0A-5E84-49DC-99B5-DC96147790D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94613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A698B10-C903-86F2-AB66-F8791BB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38A0AF25-9F11-8F45-F955-49CD7A0081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942E1-4ABA-40AE-AFC6-AEEA76844A86}" type="datetimeFigureOut">
              <a:rPr lang="zh-CN" altLang="en-US" smtClean="0"/>
              <a:t>2026/7/21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CD53036C-2158-17A0-2F05-4BFF009C04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F787AD8D-CA44-7402-CD2D-96FA96E08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FCCB0A-5E84-49DC-99B5-DC96147790D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867485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42F3C3F8-C206-5109-8DA3-1B7AF5A8C8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942E1-4ABA-40AE-AFC6-AEEA76844A86}" type="datetimeFigureOut">
              <a:rPr lang="zh-CN" altLang="en-US" smtClean="0"/>
              <a:t>2026/7/21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6A13C003-62BB-B02D-2CAE-81CBB64227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83B3C45-4A4D-A265-51BF-78ED5F75A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FCCB0A-5E84-49DC-99B5-DC96147790D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83757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94A99AF-5A88-6990-1277-ACB06384DE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72ADB32-47C3-C84A-F526-389293E648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CB309B2-8116-9B5A-342B-1EFAF294CF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6487293-60D3-F597-8298-B92B5EAF57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942E1-4ABA-40AE-AFC6-AEEA76844A86}" type="datetimeFigureOut">
              <a:rPr lang="zh-CN" altLang="en-US" smtClean="0"/>
              <a:t>2026/7/21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FBCBF18-B13C-93DD-3BEC-6CE5C8AA48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4E820EC-FB7F-C17D-C261-130FED34C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FCCB0A-5E84-49DC-99B5-DC96147790D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088759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5826EA9-8C77-D931-E0E6-B5717D950A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D1E91146-0E68-A7CC-7CB9-2B90452542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B169446-E79D-1DCF-78A5-09686754B0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E7A6B57-8B29-0A83-9342-C0B1608F55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942E1-4ABA-40AE-AFC6-AEEA76844A86}" type="datetimeFigureOut">
              <a:rPr lang="zh-CN" altLang="en-US" smtClean="0"/>
              <a:t>2026/7/21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39F1C06-AABF-0C29-6DC0-0E7D567877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04828AC-9851-257A-30EB-10F592A4C1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FCCB0A-5E84-49DC-99B5-DC96147790D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950795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3C737F1-66FA-EC6B-C5C2-77F2C7F1F8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BD97CC5-4184-D39F-9597-7A1C1DFD3D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0F7FEDC-5F65-3D09-C6FA-DB177545AC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942E1-4ABA-40AE-AFC6-AEEA76844A86}" type="datetimeFigureOut">
              <a:rPr lang="zh-CN" altLang="en-US" smtClean="0"/>
              <a:t>2026/7/21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05C1A5F-B803-49C1-EDB7-DB056F22F0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C63A579-FDFF-E3A5-E1A2-4A769893B3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FCCB0A-5E84-49DC-99B5-DC96147790D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806378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704C485A-9C19-00EB-07F6-2BBF04C2B31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DC1C3CC-8B90-394D-98BF-5F137C7516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EAD0225-8D7D-3A54-EDEC-04C602414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942E1-4ABA-40AE-AFC6-AEEA76844A86}" type="datetimeFigureOut">
              <a:rPr lang="zh-CN" altLang="en-US" smtClean="0"/>
              <a:t>2026/7/21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49ED919-9EB1-EC2D-83C4-985111B68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54B5462-9BC6-85FD-BCB4-3C232F3BD7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FCCB0A-5E84-49DC-99B5-DC96147790D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544093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D430365-8F4B-1EC9-01B8-101DDFFB36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23328B9-6A72-FFFB-B109-4C0CD884BF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256D85D-9068-8A55-9786-CB679226602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6942E1-4ABA-40AE-AFC6-AEEA76844A86}" type="datetimeFigureOut">
              <a:rPr lang="zh-CN" altLang="en-US" smtClean="0"/>
              <a:t>2026/7/21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9895A74-D12A-E532-321B-6D31B9ADAF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8BBEB80-7296-D243-42F3-F99FF34EFDC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FCCB0A-5E84-49DC-99B5-DC96147790D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962369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7.png"/><Relationship Id="rId1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11" Type="http://schemas.openxmlformats.org/officeDocument/2006/relationships/image" Target="../media/image15.png"/><Relationship Id="rId10" Type="http://schemas.openxmlformats.org/officeDocument/2006/relationships/image" Target="../media/image14.png"/><Relationship Id="rId9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>
            <a:extLst>
              <a:ext uri="{FF2B5EF4-FFF2-40B4-BE49-F238E27FC236}">
                <a16:creationId xmlns:a16="http://schemas.microsoft.com/office/drawing/2014/main" id="{46AB2A97-00A1-B9DE-982D-C0B5E897265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385" t="20854" r="22314" b="25401"/>
          <a:stretch>
            <a:fillRect/>
          </a:stretch>
        </p:blipFill>
        <p:spPr>
          <a:xfrm>
            <a:off x="7512263" y="418367"/>
            <a:ext cx="3896389" cy="2490233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3A9368E3-1A8F-7D23-F810-C92236D845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3793"/>
          <a:stretch>
            <a:fillRect/>
          </a:stretch>
        </p:blipFill>
        <p:spPr>
          <a:xfrm>
            <a:off x="11495603" y="205742"/>
            <a:ext cx="596385" cy="320754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C70939B9-A9EA-2EE6-E745-5AC804AA6BC2}"/>
                  </a:ext>
                </a:extLst>
              </p:cNvPr>
              <p:cNvSpPr txBox="1"/>
              <p:nvPr/>
            </p:nvSpPr>
            <p:spPr>
              <a:xfrm>
                <a:off x="287606" y="301803"/>
                <a:ext cx="8770669" cy="285430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CN" altLang="en-US" sz="24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启发式节点分布式广播概率计算：</a:t>
                </a:r>
                <a:endParaRPr lang="en-US" altLang="zh-CN" sz="2400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1</a:t>
                </a: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、对邻居的新鲜度优化估计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zh-CN" altLang="zh-CN" i="1" dirty="0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x-IV_mathan" altLang="zh-CN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x-IV_mathan" altLang="zh-CN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/>
                      <m:e>
                        <m:func>
                          <m:funcPr>
                            <m:ctrlPr>
                              <a:rPr lang="x-IV_mathan" altLang="zh-CN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x-IV_mathan" altLang="zh-CN">
                                <a:latin typeface="Cambria Math" panose="02040503050406030204" pitchFamily="18" charset="0"/>
                              </a:rPr>
                              <m:t>max</m:t>
                            </m:r>
                          </m:fName>
                          <m:e>
                            <m:d>
                              <m:dPr>
                                <m:ctrlPr>
                                  <a:rPr lang="x-IV_mathan" altLang="zh-CN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x-IV_mathan" altLang="zh-CN">
                                    <a:latin typeface="Cambria Math" panose="02040503050406030204" pitchFamily="18" charset="0"/>
                                  </a:rPr>
                                  <m:t>0,</m:t>
                                </m:r>
                                <m:sSub>
                                  <m:sSubPr>
                                    <m:ctrlPr>
                                      <a:rPr lang="x-IV_mathan" altLang="zh-CN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x-IV_mathan" altLang="zh-CN">
                                        <a:latin typeface="Cambria Math" panose="02040503050406030204" pitchFamily="18" charset="0"/>
                                      </a:rPr>
                                      <m:t>𝑉</m:t>
                                    </m:r>
                                  </m:e>
                                  <m:sub>
                                    <m:r>
                                      <a:rPr lang="x-IV_mathan" altLang="zh-CN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x-IV_mathan" altLang="zh-CN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x-IV_mathan" altLang="zh-CN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</m:d>
                                <m:r>
                                  <a:rPr lang="x-IV_mathan" altLang="zh-CN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Sup>
                                  <m:sSubSupPr>
                                    <m:ctrlPr>
                                      <a:rPr lang="x-IV_mathan" altLang="zh-CN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x-IV_mathan" altLang="zh-CN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x-IV_mathan" altLang="zh-CN">
                                            <a:latin typeface="Cambria Math" panose="02040503050406030204" pitchFamily="18" charset="0"/>
                                          </a:rPr>
                                          <m:t>𝑉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x-IV_mathan" altLang="zh-CN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  <m:sup>
                                    <m:d>
                                      <m:dPr>
                                        <m:ctrlPr>
                                          <a:rPr lang="x-IV_mathan" altLang="zh-CN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x-IV_mathan" altLang="zh-CN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e>
                                    </m:d>
                                  </m:sup>
                                </m:sSubSup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x-IV_mathan" altLang="zh-CN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x-IV_mathan" altLang="zh-CN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</m:d>
                              </m:e>
                            </m:d>
                          </m:e>
                        </m:func>
                      </m:e>
                    </m:nary>
                  </m:oMath>
                </a14:m>
                <a:b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</a:br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2</a:t>
                </a: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、曲率 → 瓶颈权重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altLang="zh-CN" i="1" dirty="0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= </m:t>
                    </m:r>
                    <m:func>
                      <m:funcPr>
                        <m:ctrlPr>
                          <a:rPr lang="x-IV_mathan" altLang="zh-CN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x-IV_mathan" altLang="zh-CN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d>
                          <m:dPr>
                            <m:ctrlPr>
                              <a:rPr lang="x-IV_mathan" altLang="zh-CN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x-IV_mathan" altLang="zh-CN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x-IV_mathan" altLang="zh-CN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x-IV_mathan" altLang="zh-CN">
                                    <a:latin typeface="Cambria Math" panose="02040503050406030204" pitchFamily="18" charset="0"/>
                                  </a:rPr>
                                  <m:t>𝜅</m:t>
                                </m:r>
                              </m:e>
                              <m:sub>
                                <m:r>
                                  <a:rPr lang="x-IV_mathan" altLang="zh-CN">
                                    <a:latin typeface="Cambria Math" panose="02040503050406030204" pitchFamily="18" charset="0"/>
                                  </a:rPr>
                                  <m:t>𝑖𝑗</m:t>
                                </m:r>
                              </m:sub>
                            </m:sSub>
                            <m:r>
                              <a:rPr lang="x-IV_mathan" altLang="zh-CN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e>
                    </m:func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/</m:t>
                    </m:r>
                    <m:func>
                      <m:funcPr>
                        <m:ctrlPr>
                          <a:rPr lang="x-IV_mathan" altLang="zh-CN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x-IV_mathan" altLang="zh-CN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latin typeface="Cambria Math" panose="02040503050406030204" pitchFamily="18" charset="0"/>
                              </a:rPr>
                              <m:t>e</m:t>
                            </m:r>
                          </m:lim>
                        </m:limLow>
                      </m:fName>
                      <m:e>
                        <m:d>
                          <m:dPr>
                            <m:ctrlPr>
                              <a:rPr lang="x-IV_mathan" altLang="zh-CN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x-IV_mathan" altLang="zh-CN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x-IV_mathan" altLang="zh-CN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x-IV_mathan" altLang="zh-CN">
                                    <a:latin typeface="Cambria Math" panose="02040503050406030204" pitchFamily="18" charset="0"/>
                                  </a:rPr>
                                  <m:t>𝜅</m:t>
                                </m:r>
                              </m:e>
                              <m:sub>
                                <m: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sub>
                            </m:sSub>
                            <m:r>
                              <a:rPr lang="x-IV_mathan" altLang="zh-CN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e>
                    </m:func>
                  </m:oMath>
                </a14:m>
                <a:endPara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3</a:t>
                </a: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、距离上一次广播的间隔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𝜏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endPara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4</a:t>
                </a: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、基于信道拥塞的退避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zh-CN" altLang="en-US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5</a:t>
                </a: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、基于连续广播次数的退避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zh-CN" altLang="en-US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C70939B9-A9EA-2EE6-E745-5AC804AA6B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606" y="301803"/>
                <a:ext cx="8770669" cy="2854308"/>
              </a:xfrm>
              <a:prstGeom prst="rect">
                <a:avLst/>
              </a:prstGeom>
              <a:blipFill>
                <a:blip r:embed="rId3"/>
                <a:stretch>
                  <a:fillRect l="-1042" t="-1709" b="-256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图片 8">
            <a:extLst>
              <a:ext uri="{FF2B5EF4-FFF2-40B4-BE49-F238E27FC236}">
                <a16:creationId xmlns:a16="http://schemas.microsoft.com/office/drawing/2014/main" id="{C31C4BB4-8D1A-C607-8A7C-FD4B662259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72714" y="3334831"/>
            <a:ext cx="3661053" cy="242777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2B5AC662-181C-B60B-0AFA-5140332B291F}"/>
                  </a:ext>
                </a:extLst>
              </p:cNvPr>
              <p:cNvSpPr txBox="1"/>
              <p:nvPr/>
            </p:nvSpPr>
            <p:spPr>
              <a:xfrm>
                <a:off x="287606" y="3272675"/>
                <a:ext cx="7606238" cy="29613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CN" altLang="en-US" sz="24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步骤：</a:t>
                </a:r>
                <a:endParaRPr lang="en-US" altLang="zh-CN" sz="2400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1</a:t>
                </a: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、节点</a:t>
                </a:r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score</a:t>
                </a: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： ①邻边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zh-CN" altLang="zh-CN" i="1" dirty="0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取</a:t>
                </a:r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max</a:t>
                </a: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，乘瓶颈权重 </a:t>
                </a:r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+ </a:t>
                </a: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②距离上次广播间隔</a:t>
                </a:r>
                <a:b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</a:br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	</a:t>
                </a: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a:rPr lang="x-IV_mathan" altLang="zh-CN">
                        <a:latin typeface="Cambria Math" panose="02040503050406030204" pitchFamily="18" charset="0"/>
                      </a:rPr>
                      <m:t>𝑠𝑐𝑜𝑟</m:t>
                    </m:r>
                    <m:sSub>
                      <m:sSubPr>
                        <m:ctrlPr>
                          <a:rPr lang="x-IV_mathan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x-IV_mathan" altLang="zh-CN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x-IV_mathan" altLang="zh-CN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x-IV_mathan" altLang="zh-CN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x-IV_mathan" altLang="zh-CN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x-IV_mathan" altLang="zh-CN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x-IV_mathan" altLang="zh-CN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r>
                              <a:rPr lang="x-IV_mathan" altLang="zh-CN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x-IV_mathan" altLang="zh-CN">
                                <a:latin typeface="Cambria Math" panose="02040503050406030204" pitchFamily="18" charset="0"/>
                              </a:rPr>
                              <m:t>∈</m:t>
                            </m:r>
                            <m:sSub>
                              <m:sSubPr>
                                <m:ctrlPr>
                                  <a:rPr lang="x-IV_mathan" altLang="zh-CN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x-IV_mathan" altLang="zh-CN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x-IV_mathan" altLang="zh-CN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lim>
                        </m:limLow>
                      </m:fName>
                      <m:e>
                        <m:d>
                          <m:dPr>
                            <m:ctrlPr>
                              <a:rPr lang="x-IV_mathan" altLang="zh-CN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x-IV_mathan" altLang="zh-CN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b>
                              <m:sSubPr>
                                <m:ctrlPr>
                                  <a:rPr lang="x-IV_mathan" altLang="zh-CN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x-IV_mathan" altLang="zh-CN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x-IV_mathan" altLang="zh-CN">
                                    <a:latin typeface="Cambria Math" panose="02040503050406030204" pitchFamily="18" charset="0"/>
                                  </a:rPr>
                                  <m:t>𝜅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x-IV_mathan" altLang="zh-CN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x-IV_mathan" altLang="zh-CN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x-IV_mathan" altLang="zh-CN">
                                    <a:latin typeface="Cambria Math" panose="02040503050406030204" pitchFamily="18" charset="0"/>
                                  </a:rPr>
                                  <m:t>𝑖𝑗</m:t>
                                </m:r>
                              </m:sub>
                            </m:sSub>
                          </m:e>
                        </m:d>
                        <m:sSub>
                          <m:sSubPr>
                            <m:ctrlPr>
                              <a:rPr lang="zh-CN" altLang="zh-CN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zh-CN" altLang="zh-CN" i="1" dirty="0" smtClean="0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func>
                    <m:r>
                      <a:rPr lang="x-IV_mathan" altLang="zh-CN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x-IV_mathan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x-IV_mathan" altLang="zh-CN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x-IV_mathan" altLang="zh-CN">
                            <a:latin typeface="Cambria Math" panose="02040503050406030204" pitchFamily="18" charset="0"/>
                          </a:rPr>
                          <m:t>age</m:t>
                        </m:r>
                      </m:sub>
                    </m:sSub>
                    <m:sSub>
                      <m:sSubPr>
                        <m:ctrlPr>
                          <a:rPr lang="x-IV_mathan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x-IV_mathan" altLang="zh-CN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x-IV_mathan" altLang="zh-CN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2</a:t>
                </a: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、</a:t>
                </a:r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score</a:t>
                </a: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转成初始概率：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zh-CN" altLang="en-US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zh-CN" altLang="en-US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zh-CN" altLang="en-US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zh-CN" altLang="en-US" i="1" dirty="0" smtClean="0">
                            <a:latin typeface="Cambria Math" panose="02040503050406030204" pitchFamily="18" charset="0"/>
                          </a:rPr>
                          <m:t>𝑏𝑎𝑠𝑒</m:t>
                        </m:r>
                      </m:sup>
                    </m:sSubSup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x-IV_mathan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x-IV_mathan" altLang="zh-CN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x-IV_mathan" altLang="zh-CN">
                            <a:latin typeface="Cambria Math" panose="02040503050406030204" pitchFamily="18" charset="0"/>
                          </a:rPr>
                          <m:t>min</m:t>
                        </m:r>
                      </m:sub>
                    </m:sSub>
                    <m:r>
                      <a:rPr lang="x-IV_mathan" altLang="zh-CN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x-IV_mathan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x-IV_mathan" altLang="zh-C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x-IV_mathan" altLang="zh-CN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x-IV_mathan" altLang="zh-CN">
                                <a:latin typeface="Cambria Math" panose="02040503050406030204" pitchFamily="18" charset="0"/>
                              </a:rPr>
                              <m:t>max</m:t>
                            </m:r>
                          </m:sub>
                        </m:sSub>
                        <m:r>
                          <a:rPr lang="x-IV_mathan" altLang="zh-CN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x-IV_mathan" altLang="zh-C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x-IV_mathan" altLang="zh-CN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x-IV_mathan" altLang="zh-CN">
                                <a:latin typeface="Cambria Math" panose="02040503050406030204" pitchFamily="18" charset="0"/>
                              </a:rPr>
                              <m:t>min</m:t>
                            </m:r>
                          </m:sub>
                        </m:sSub>
                      </m:e>
                    </m:d>
                    <m:r>
                      <a:rPr lang="x-IV_mathan" altLang="zh-CN"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x-IV_mathan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x-IV_mathan" altLang="zh-CN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x-IV_mathan" altLang="zh-CN">
                                <a:latin typeface="Cambria Math" panose="02040503050406030204" pitchFamily="18" charset="0"/>
                              </a:rPr>
                              <m:t>𝑠𝑐𝑜𝑟</m:t>
                            </m:r>
                            <m:sSub>
                              <m:sSubPr>
                                <m:ctrlPr>
                                  <a:rPr lang="x-IV_mathan" altLang="zh-CN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x-IV_mathan" altLang="zh-CN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b>
                                <m:r>
                                  <a:rPr lang="x-IV_mathan" altLang="zh-CN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x-IV_mathan" altLang="zh-CN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x-IV_mathan" altLang="zh-CN">
                                <a:latin typeface="Cambria Math" panose="02040503050406030204" pitchFamily="18" charset="0"/>
                              </a:rPr>
                              <m:t>𝜃</m:t>
                            </m:r>
                          </m:num>
                          <m:den>
                            <m:r>
                              <a:rPr lang="x-IV_mathan" altLang="zh-CN">
                                <a:latin typeface="Cambria Math" panose="02040503050406030204" pitchFamily="18" charset="0"/>
                              </a:rPr>
                              <m:t>𝑇</m:t>
                            </m:r>
                          </m:den>
                        </m:f>
                      </m:e>
                    </m:d>
                  </m:oMath>
                </a14:m>
                <a:endParaRPr lang="en-US" altLang="zh-CN" dirty="0"/>
              </a:p>
              <a:p>
                <a:pPr>
                  <a:lnSpc>
                    <a:spcPct val="150000"/>
                  </a:lnSpc>
                </a:pPr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3</a:t>
                </a: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、考虑退避</a:t>
                </a:r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1— </a:t>
                </a: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基于信道拥塞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zh-CN" altLang="en-US" i="1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zh-CN" altLang="en-US" i="0" dirty="0" smtClean="0">
                            <a:latin typeface="Cambria Math" panose="02040503050406030204" pitchFamily="18" charset="0"/>
                          </a:rPr>
                          <m:t>exp</m:t>
                        </m:r>
                      </m:fName>
                      <m:e>
                        <m:d>
                          <m:dPr>
                            <m:ctrlPr>
                              <a:rPr lang="zh-CN" altLang="en-US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zh-CN" altLang="en-US" i="0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zh-CN" altLang="en-US" i="1" dirty="0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sSub>
                              <m:sSubPr>
                                <m:ctrlPr>
                                  <a:rPr lang="zh-CN" altLang="en-US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CN" altLang="en-US" i="1" dirty="0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sub>
                                <m:r>
                                  <a:rPr lang="zh-CN" altLang="en-US" i="1" dirty="0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d>
                              <m:dPr>
                                <m:begChr m:val="["/>
                                <m:endChr m:val="]"/>
                                <m:ctrlPr>
                                  <a:rPr lang="zh-CN" altLang="en-US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zh-CN" altLang="en-US" i="1" dirty="0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e>
                        </m:d>
                      </m:e>
                    </m:func>
                  </m:oMath>
                </a14:m>
                <a:b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</a:br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    </a:t>
                </a: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考虑退避</a:t>
                </a:r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2— </a:t>
                </a: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基于连续广播次数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zh-CN" altLang="en-US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zh-CN" altLang="en-US" i="1" dirty="0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p>
                        <m:sSub>
                          <m:sSubPr>
                            <m:ctrlPr>
                              <a:rPr lang="zh-CN" altLang="en-US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CN" altLang="en-US" i="1" dirty="0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zh-CN" altLang="en-US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d>
                          <m:dPr>
                            <m:begChr m:val="["/>
                            <m:endChr m:val="]"/>
                            <m:ctrlPr>
                              <a:rPr lang="zh-CN" altLang="en-US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zh-CN" altLang="en-US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sup>
                    </m:sSup>
                  </m:oMath>
                </a14:m>
                <a:endParaRPr lang="en-US" altLang="zh-CN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2B5AC662-181C-B60B-0AFA-5140332B29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606" y="3272675"/>
                <a:ext cx="7606238" cy="2961388"/>
              </a:xfrm>
              <a:prstGeom prst="rect">
                <a:avLst/>
              </a:prstGeom>
              <a:blipFill>
                <a:blip r:embed="rId5"/>
                <a:stretch>
                  <a:fillRect l="-1202" t="-1646" b="-226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DCCAE564-0288-678D-759C-F5997A928482}"/>
                  </a:ext>
                </a:extLst>
              </p:cNvPr>
              <p:cNvSpPr txBox="1"/>
              <p:nvPr/>
            </p:nvSpPr>
            <p:spPr>
              <a:xfrm>
                <a:off x="5034557" y="536377"/>
                <a:ext cx="3387924" cy="3459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x-IV_mathan" altLang="zh-CN" sz="120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ˆ"/>
                            <m:ctrlPr>
                              <a:rPr lang="x-IV_mathan" altLang="zh-CN" sz="1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x-IV_mathan" altLang="zh-CN" sz="120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acc>
                      </m:e>
                      <m:sub>
                        <m:r>
                          <a:rPr lang="x-IV_mathan" altLang="zh-CN" sz="120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d>
                          <m:dPr>
                            <m:ctrlPr>
                              <a:rPr lang="x-IV_mathan" altLang="zh-CN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x-IV_mathan" altLang="zh-CN" sz="120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sup>
                    </m:sSubSup>
                  </m:oMath>
                </a14:m>
                <a:r>
                  <a:rPr lang="zh-CN" altLang="en-US" sz="12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为</a:t>
                </a:r>
                <a:r>
                  <a:rPr lang="en-US" altLang="zh-CN" sz="1200" dirty="0" err="1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i</a:t>
                </a:r>
                <a:r>
                  <a:rPr lang="zh-CN" altLang="en-US" sz="12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节点处缓存的</a:t>
                </a:r>
                <a:r>
                  <a:rPr lang="en-US" altLang="zh-CN" sz="12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j</a:t>
                </a:r>
                <a:r>
                  <a:rPr lang="zh-CN" altLang="en-US" sz="12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节点最新版本信息</a:t>
                </a:r>
                <a:endParaRPr lang="zh-CN" altLang="en-US" sz="1200" dirty="0"/>
              </a:p>
            </p:txBody>
          </p:sp>
        </mc:Choice>
        <mc:Fallback xmlns=""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DCCAE564-0288-678D-759C-F5997A928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4557" y="536377"/>
                <a:ext cx="3387924" cy="345929"/>
              </a:xfrm>
              <a:prstGeom prst="rect">
                <a:avLst/>
              </a:prstGeom>
              <a:blipFill>
                <a:blip r:embed="rId6"/>
                <a:stretch>
                  <a:fillRect b="-350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1443303C-9713-E161-0176-655EF2E1DD04}"/>
                  </a:ext>
                </a:extLst>
              </p:cNvPr>
              <p:cNvSpPr txBox="1"/>
              <p:nvPr/>
            </p:nvSpPr>
            <p:spPr>
              <a:xfrm>
                <a:off x="7572714" y="5725200"/>
                <a:ext cx="4228761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zh-CN" altLang="en-US" sz="1200" i="1" dirty="0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zh-CN" altLang="en-US" sz="12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：</a:t>
                </a:r>
                <a:r>
                  <a:rPr lang="en-US" altLang="zh-CN" sz="1200" dirty="0" err="1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congestion_backoff_weight</a:t>
                </a:r>
                <a:r>
                  <a:rPr lang="zh-CN" altLang="en-US" sz="12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，越大越惩罚拥塞；</a:t>
                </a:r>
                <a:endParaRPr lang="en-US" altLang="zh-CN" sz="12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14:m>
                  <m:oMath xmlns:m="http://schemas.openxmlformats.org/officeDocument/2006/math">
                    <m:r>
                      <a:rPr lang="zh-CN" altLang="en-US" sz="1200" i="1" dirty="0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zh-CN" altLang="en-US" sz="12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：</a:t>
                </a:r>
                <a:r>
                  <a:rPr lang="en-US" altLang="zh-CN" sz="1200" dirty="0" err="1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attempt_backoff_factor</a:t>
                </a:r>
                <a:r>
                  <a:rPr lang="zh-CN" altLang="en-US" sz="12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，越小越抑制连续发送；</a:t>
                </a:r>
                <a:endParaRPr lang="en-US" altLang="zh-CN" sz="12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14:m>
                  <m:oMath xmlns:m="http://schemas.openxmlformats.org/officeDocument/2006/math">
                    <m:r>
                      <a:rPr lang="x-IV_mathan" altLang="zh-CN" sz="1200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zh-CN" altLang="en-US" sz="12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：</a:t>
                </a:r>
                <a:r>
                  <a:rPr lang="en-US" altLang="zh-CN" sz="12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threshold</a:t>
                </a:r>
                <a:r>
                  <a:rPr lang="zh-CN" altLang="en-US" sz="12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，可用于控制广播总量；</a:t>
                </a:r>
                <a:endParaRPr lang="en-US" altLang="zh-CN" sz="12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14:m>
                  <m:oMath xmlns:m="http://schemas.openxmlformats.org/officeDocument/2006/math">
                    <m:r>
                      <a:rPr lang="x-IV_mathan" altLang="zh-CN" sz="120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zh-CN" altLang="en-US" sz="12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：</a:t>
                </a:r>
                <a:r>
                  <a:rPr lang="en-US" altLang="zh-CN" sz="12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temperature</a:t>
                </a:r>
                <a:r>
                  <a:rPr lang="zh-CN" altLang="en-US" sz="12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，控制节点分数之间的区分强度</a:t>
                </a:r>
                <a:endParaRPr lang="zh-CN" altLang="en-US" sz="1200" dirty="0"/>
              </a:p>
            </p:txBody>
          </p:sp>
        </mc:Choice>
        <mc:Fallback xmlns="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1443303C-9713-E161-0176-655EF2E1DD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72714" y="5725200"/>
                <a:ext cx="4228761" cy="830997"/>
              </a:xfrm>
              <a:prstGeom prst="rect">
                <a:avLst/>
              </a:prstGeom>
              <a:blipFill>
                <a:blip r:embed="rId7"/>
                <a:stretch>
                  <a:fillRect b="-441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B4C96095-C432-BCA5-85FE-98C508FD6A73}"/>
                  </a:ext>
                </a:extLst>
              </p:cNvPr>
              <p:cNvSpPr txBox="1"/>
              <p:nvPr/>
            </p:nvSpPr>
            <p:spPr>
              <a:xfrm>
                <a:off x="1226343" y="6234063"/>
                <a:ext cx="4738688" cy="410562"/>
              </a:xfrm>
              <a:prstGeom prst="rec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CN" altLang="en-US" sz="18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sz="1800" i="1" dirty="0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zh-CN" altLang="en-US" sz="180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zh-CN" altLang="en-US" sz="1800" i="0" dirty="0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zh-CN" altLang="en-US" sz="1800" i="1" dirty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zh-CN" altLang="en-US" sz="1800" i="0" dirty="0" smtClean="0">
                              <a:latin typeface="Cambria Math" panose="02040503050406030204" pitchFamily="18" charset="0"/>
                            </a:rPr>
                            <m:t>clip</m:t>
                          </m:r>
                        </m:fName>
                        <m:e>
                          <m:d>
                            <m:dPr>
                              <m:ctrlPr>
                                <a:rPr lang="zh-CN" altLang="en-US" sz="18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zh-CN" altLang="en-US" sz="18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zh-CN" altLang="en-US" sz="1800" i="1" dirty="0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zh-CN" altLang="en-US" sz="1800" i="1" dirty="0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zh-CN" altLang="en-US" sz="1800" i="1" dirty="0" smtClean="0">
                                      <a:latin typeface="Cambria Math" panose="02040503050406030204" pitchFamily="18" charset="0"/>
                                    </a:rPr>
                                    <m:t>𝑏𝑎𝑠𝑒</m:t>
                                  </m:r>
                                </m:sup>
                              </m:sSubSup>
                              <m:func>
                                <m:funcPr>
                                  <m:ctrlPr>
                                    <a:rPr lang="zh-CN" altLang="en-US" sz="18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zh-CN" altLang="en-US" sz="1800" i="0" dirty="0" smtClean="0">
                                      <a:latin typeface="Cambria Math" panose="02040503050406030204" pitchFamily="18" charset="0"/>
                                    </a:rPr>
                                    <m:t>exp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zh-CN" altLang="en-US" sz="180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zh-CN" altLang="en-US" sz="1800" i="0" dirty="0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zh-CN" altLang="en-US" sz="1800" i="1" dirty="0" smtClean="0">
                                          <a:latin typeface="Cambria Math" panose="02040503050406030204" pitchFamily="18" charset="0"/>
                                        </a:rPr>
                                        <m:t>𝜆</m:t>
                                      </m:r>
                                      <m:sSub>
                                        <m:sSubPr>
                                          <m:ctrlPr>
                                            <a:rPr lang="zh-CN" altLang="en-US" sz="1800" i="1" dirty="0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CN" altLang="en-US" sz="1800" i="1" dirty="0" smtClean="0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e>
                                        <m:sub>
                                          <m:r>
                                            <a:rPr lang="zh-CN" altLang="en-US" sz="1800" i="1" dirty="0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begChr m:val="["/>
                                          <m:endChr m:val="]"/>
                                          <m:ctrlPr>
                                            <a:rPr lang="zh-CN" altLang="en-US" sz="1800" i="1" dirty="0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zh-CN" altLang="en-US" sz="1800" i="1" dirty="0" smtClean="0"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</m:func>
                              <m:sSup>
                                <m:sSupPr>
                                  <m:ctrlPr>
                                    <a:rPr lang="zh-CN" altLang="en-US" sz="18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zh-CN" altLang="en-US" sz="1800" i="1" dirty="0" smtClean="0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p>
                                  <m:sSub>
                                    <m:sSubPr>
                                      <m:ctrlPr>
                                        <a:rPr lang="zh-CN" altLang="en-US" sz="180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CN" altLang="en-US" sz="1800" i="1" dirty="0" smtClean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zh-CN" altLang="en-US" sz="1800" i="1" dirty="0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zh-CN" altLang="en-US" sz="180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zh-CN" altLang="en-US" sz="1800" i="1" dirty="0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sup>
                              </m:sSup>
                              <m:r>
                                <a:rPr lang="zh-CN" altLang="en-US" sz="1800" i="0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zh-CN" altLang="en-US" sz="18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sz="1800" i="1" dirty="0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zh-CN" altLang="en-US" sz="1800" i="0" dirty="0" smtClean="0">
                                      <a:latin typeface="Cambria Math" panose="02040503050406030204" pitchFamily="18" charset="0"/>
                                    </a:rPr>
                                    <m:t>min</m:t>
                                  </m:r>
                                </m:sub>
                              </m:sSub>
                              <m:r>
                                <a:rPr lang="zh-CN" altLang="en-US" sz="1800" i="0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zh-CN" altLang="en-US" sz="18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sz="1800" i="1" dirty="0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zh-CN" altLang="en-US" sz="1800" i="0" dirty="0" smtClean="0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B4C96095-C432-BCA5-85FE-98C508FD6A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6343" y="6234063"/>
                <a:ext cx="4738688" cy="410562"/>
              </a:xfrm>
              <a:prstGeom prst="rect">
                <a:avLst/>
              </a:prstGeom>
              <a:blipFill>
                <a:blip r:embed="rId8"/>
                <a:stretch>
                  <a:fillRect b="-7246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2966B4C8-5001-41FF-D75B-13FB8D2EA716}"/>
                  </a:ext>
                </a:extLst>
              </p:cNvPr>
              <p:cNvSpPr txBox="1"/>
              <p:nvPr/>
            </p:nvSpPr>
            <p:spPr>
              <a:xfrm>
                <a:off x="0" y="7001045"/>
                <a:ext cx="8166107" cy="13431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节点若上一</a:t>
                </a:r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slot</a:t>
                </a: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为发送则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不变；为接收则会更新：</a:t>
                </a:r>
                <a:endParaRPr lang="en-US" altLang="zh-CN" i="1" dirty="0">
                  <a:latin typeface="Cambria Math" panose="02040503050406030204" pitchFamily="18" charset="0"/>
                </a:endParaRPr>
              </a:p>
              <a:p>
                <a:r>
                  <a:rPr lang="en-US" altLang="zh-CN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zh-CN" altLang="en-US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zh-CN" altLang="en-US" i="1">
                        <a:latin typeface="Cambria Math" panose="02040503050406030204" pitchFamily="18" charset="0"/>
                      </a:rPr>
                      <m:t>𝛼</m:t>
                    </m:r>
                    <m:sSub>
                      <m:sSubPr>
                        <m:ctrlPr>
                          <a:rPr lang="zh-CN" alt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zh-CN" altLang="en-US" i="0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  <m:r>
                      <a:rPr lang="zh-CN" altLang="en-US" i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zh-CN" alt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zh-CN" altLang="en-US" i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</m:d>
                    <m:func>
                      <m:funcPr>
                        <m:ctrlPr>
                          <a:rPr lang="zh-CN" alt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zh-CN" altLang="en-US" i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zh-CN" alt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zh-CN" altLang="en-US" i="0">
                                <a:latin typeface="Cambria Math" panose="02040503050406030204" pitchFamily="18" charset="0"/>
                              </a:rPr>
                              <m:t>1+</m:t>
                            </m:r>
                            <m:f>
                              <m:fPr>
                                <m:ctrlPr>
                                  <a:rPr lang="zh-CN" alt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zh-CN" alt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CN" altLang="en-US" i="1"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zh-CN" altLang="en-US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zh-CN" alt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altLang="en-US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num>
                              <m:den>
                                <m:r>
                                  <a:rPr lang="zh-CN" altLang="en-US" i="1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en-US" altLang="zh-CN" dirty="0"/>
              </a:p>
              <a:p>
                <a:r>
                  <a:rPr lang="zh-CN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其中</a:t>
                </a:r>
                <a14:m>
                  <m:oMath xmlns:m="http://schemas.openxmlformats.org/officeDocument/2006/math">
                    <m:r>
                      <a:rPr lang="zh-CN" altLang="en-US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zh-CN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是噪声功率，</a:t>
                </a:r>
                <a14:m>
                  <m:oMath xmlns:m="http://schemas.openxmlformats.org/officeDocument/2006/math">
                    <m:r>
                      <a:rPr lang="zh-CN" altLang="en-US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控制历史平滑程度。</a:t>
                </a:r>
                <a:b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为除最强被接收的广播信号外，其余所有信号的接收功率之和。</a:t>
                </a:r>
                <a:endPara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2966B4C8-5001-41FF-D75B-13FB8D2EA7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7001045"/>
                <a:ext cx="8166107" cy="1343188"/>
              </a:xfrm>
              <a:prstGeom prst="rect">
                <a:avLst/>
              </a:prstGeom>
              <a:blipFill>
                <a:blip r:embed="rId9"/>
                <a:stretch>
                  <a:fillRect l="-597" t="-2262" b="-588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文本框 18">
            <a:extLst>
              <a:ext uri="{FF2B5EF4-FFF2-40B4-BE49-F238E27FC236}">
                <a16:creationId xmlns:a16="http://schemas.microsoft.com/office/drawing/2014/main" id="{8AF8FA20-7E85-2614-6010-7CD5D838E7C0}"/>
              </a:ext>
            </a:extLst>
          </p:cNvPr>
          <p:cNvSpPr txBox="1"/>
          <p:nvPr/>
        </p:nvSpPr>
        <p:spPr>
          <a:xfrm>
            <a:off x="7799297" y="2786779"/>
            <a:ext cx="33223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节点位置固定、邻接关系固定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114450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4769CAE8-37AA-83F1-F822-FB80D42741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441493" cy="6858000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0A37F1FA-B317-5578-AEC3-F67EDCCEA4B1}"/>
              </a:ext>
            </a:extLst>
          </p:cNvPr>
          <p:cNvSpPr txBox="1"/>
          <p:nvPr/>
        </p:nvSpPr>
        <p:spPr>
          <a:xfrm>
            <a:off x="3274645" y="1242060"/>
            <a:ext cx="247845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在相近的广播次数下，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orc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性能最好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215C0C6-05E0-4BAA-D2A6-100959F818A3}"/>
              </a:ext>
            </a:extLst>
          </p:cNvPr>
          <p:cNvSpPr txBox="1"/>
          <p:nvPr/>
        </p:nvSpPr>
        <p:spPr>
          <a:xfrm>
            <a:off x="7291362" y="3166794"/>
            <a:ext cx="217963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节点数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N=100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；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更新概率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P_u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=0.05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4DC8EA2-C354-4F89-AA40-6BD94E408EF3}"/>
              </a:ext>
            </a:extLst>
          </p:cNvPr>
          <p:cNvSpPr/>
          <p:nvPr/>
        </p:nvSpPr>
        <p:spPr>
          <a:xfrm>
            <a:off x="2681927" y="1242060"/>
            <a:ext cx="533713" cy="24460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170883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DE2C4ACF-6106-BCAE-5D9B-C2AAD51E43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6" y="0"/>
            <a:ext cx="9516649" cy="6858000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134709A2-90FE-FAE8-CB3C-5134C4CEB41C}"/>
              </a:ext>
            </a:extLst>
          </p:cNvPr>
          <p:cNvSpPr txBox="1"/>
          <p:nvPr/>
        </p:nvSpPr>
        <p:spPr>
          <a:xfrm>
            <a:off x="7330441" y="3147673"/>
            <a:ext cx="25831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节点数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N=100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；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更新概率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P_u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=0.20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D8DDC82-A41F-F371-7BAE-140BC1464A9C}"/>
              </a:ext>
            </a:extLst>
          </p:cNvPr>
          <p:cNvSpPr txBox="1"/>
          <p:nvPr/>
        </p:nvSpPr>
        <p:spPr>
          <a:xfrm>
            <a:off x="3465145" y="1292511"/>
            <a:ext cx="247845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在相近的广播次数下，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orc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性能最好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ACEF414-9F21-4488-E3C1-D2C5AAE5024A}"/>
              </a:ext>
            </a:extLst>
          </p:cNvPr>
          <p:cNvSpPr/>
          <p:nvPr/>
        </p:nvSpPr>
        <p:spPr>
          <a:xfrm>
            <a:off x="4076387" y="2171699"/>
            <a:ext cx="533713" cy="162230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133571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AA5931-B8B1-A508-E8E5-9CF11B57FC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>
            <a:extLst>
              <a:ext uri="{FF2B5EF4-FFF2-40B4-BE49-F238E27FC236}">
                <a16:creationId xmlns:a16="http://schemas.microsoft.com/office/drawing/2014/main" id="{E92D6405-1FC9-1DDB-7803-277A4AEC5C0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8111"/>
          <a:stretch>
            <a:fillRect/>
          </a:stretch>
        </p:blipFill>
        <p:spPr>
          <a:xfrm>
            <a:off x="1" y="51453"/>
            <a:ext cx="7513320" cy="3377547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109DBA0E-033E-14B4-D8BD-7832DD04069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41000"/>
          <a:stretch>
            <a:fillRect/>
          </a:stretch>
        </p:blipFill>
        <p:spPr>
          <a:xfrm>
            <a:off x="1" y="3517010"/>
            <a:ext cx="7513320" cy="3219888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D4DA6D8E-601C-0E82-9DAB-3CA6EFEEB4B0}"/>
              </a:ext>
            </a:extLst>
          </p:cNvPr>
          <p:cNvSpPr txBox="1"/>
          <p:nvPr/>
        </p:nvSpPr>
        <p:spPr>
          <a:xfrm>
            <a:off x="7597453" y="314958"/>
            <a:ext cx="4449767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不用精确的全局曲率计算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用分布式只需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跳邻居信息的曲率估计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相同配置下性能差了一些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E6C4C19-0CFD-46E9-EF01-4332CECD268C}"/>
              </a:ext>
            </a:extLst>
          </p:cNvPr>
          <p:cNvSpPr txBox="1"/>
          <p:nvPr/>
        </p:nvSpPr>
        <p:spPr>
          <a:xfrm>
            <a:off x="6042661" y="5565138"/>
            <a:ext cx="147066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N=100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；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P_u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=0.05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；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用估计曲率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B502C348-4691-006F-5BDA-5F0F8D140081}"/>
                  </a:ext>
                </a:extLst>
              </p:cNvPr>
              <p:cNvSpPr txBox="1"/>
              <p:nvPr/>
            </p:nvSpPr>
            <p:spPr>
              <a:xfrm>
                <a:off x="7597453" y="1342184"/>
                <a:ext cx="4327846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zh-CN" altLang="zh-CN" i="1" dirty="0" smtClean="0">
                          <a:latin typeface="Cambria Math" panose="02040503050406030204" pitchFamily="18" charset="0"/>
                        </a:rPr>
                        <m:t>𝐴𝐹</m:t>
                      </m:r>
                      <m:r>
                        <a:rPr lang="zh-CN" altLang="zh-CN" i="1" dirty="0" smtClean="0">
                          <a:latin typeface="Cambria Math" panose="02040503050406030204" pitchFamily="18" charset="0"/>
                        </a:rPr>
                        <m:t>3</m:t>
                      </m:r>
                      <m:d>
                        <m:dPr>
                          <m:ctrlPr>
                            <a:rPr lang="zh-CN" altLang="zh-CN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CN" altLang="zh-CN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zh-CN" altLang="zh-CN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zh-CN" altLang="zh-CN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zh-CN" altLang="zh-CN" i="1" dirty="0" smtClean="0">
                          <a:latin typeface="Cambria Math" panose="02040503050406030204" pitchFamily="18" charset="0"/>
                        </a:rPr>
                        <m:t>= 4 − </m:t>
                      </m:r>
                      <m:r>
                        <a:rPr lang="zh-CN" altLang="zh-CN" i="1" dirty="0" smtClean="0">
                          <a:latin typeface="Cambria Math" panose="02040503050406030204" pitchFamily="18" charset="0"/>
                        </a:rPr>
                        <m:t>𝑑𝑒𝑔𝑟𝑒𝑒</m:t>
                      </m:r>
                      <m:d>
                        <m:dPr>
                          <m:ctrlPr>
                            <a:rPr lang="zh-CN" altLang="zh-CN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CN" altLang="zh-CN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zh-CN" altLang="zh-CN" i="1" dirty="0" smtClean="0">
                          <a:latin typeface="Cambria Math" panose="02040503050406030204" pitchFamily="18" charset="0"/>
                        </a:rPr>
                        <m:t>− </m:t>
                      </m:r>
                      <m:r>
                        <a:rPr lang="zh-CN" altLang="zh-CN" i="1" dirty="0" smtClean="0">
                          <a:latin typeface="Cambria Math" panose="02040503050406030204" pitchFamily="18" charset="0"/>
                        </a:rPr>
                        <m:t>𝑑𝑒𝑔𝑟𝑒𝑒</m:t>
                      </m:r>
                      <m:d>
                        <m:dPr>
                          <m:ctrlPr>
                            <a:rPr lang="zh-CN" altLang="zh-CN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CN" altLang="zh-CN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</m:oMath>
                  </m:oMathPara>
                </a14:m>
                <a:endParaRPr lang="en-US" altLang="zh-CN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b="0" i="1" dirty="0" smtClean="0">
                          <a:latin typeface="Cambria Math" panose="02040503050406030204" pitchFamily="18" charset="0"/>
                        </a:rPr>
                        <m:t>                        </m:t>
                      </m:r>
                      <m:r>
                        <a:rPr lang="zh-CN" altLang="zh-CN" i="1" dirty="0" smtClean="0">
                          <a:latin typeface="Cambria Math" panose="02040503050406030204" pitchFamily="18" charset="0"/>
                        </a:rPr>
                        <m:t>+ 3|</m:t>
                      </m:r>
                      <m:r>
                        <a:rPr lang="zh-CN" altLang="zh-CN" i="1" dirty="0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zh-CN" altLang="zh-CN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zh-CN" altLang="zh-CN" i="1" dirty="0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zh-CN" altLang="zh-CN" i="1" dirty="0" smtClean="0">
                          <a:latin typeface="Cambria Math" panose="02040503050406030204" pitchFamily="18" charset="0"/>
                        </a:rPr>
                        <m:t>)∩</m:t>
                      </m:r>
                      <m:r>
                        <a:rPr lang="zh-CN" altLang="zh-CN" i="1" dirty="0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zh-CN" altLang="zh-CN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zh-CN" altLang="zh-CN" i="1" dirty="0" smtClean="0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zh-CN" altLang="zh-CN" i="1" dirty="0" smtClean="0">
                          <a:latin typeface="Cambria Math" panose="02040503050406030204" pitchFamily="18" charset="0"/>
                        </a:rPr>
                        <m:t>)|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B502C348-4691-006F-5BDA-5F0F8D1400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7453" y="1342184"/>
                <a:ext cx="4327846" cy="646331"/>
              </a:xfrm>
              <a:prstGeom prst="rect">
                <a:avLst/>
              </a:prstGeom>
              <a:blipFill>
                <a:blip r:embed="rId5"/>
                <a:stretch>
                  <a:fillRect b="-754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051746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ACC6AF-253F-E3D3-36A4-C461440C7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BAFB5F39-3BE2-D0BB-8F58-143813C8273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1111"/>
          <a:stretch>
            <a:fillRect/>
          </a:stretch>
        </p:blipFill>
        <p:spPr>
          <a:xfrm>
            <a:off x="4176" y="66210"/>
            <a:ext cx="7711439" cy="3272519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E74C768D-8DFC-2589-60F1-B99D52140D6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1111"/>
          <a:stretch>
            <a:fillRect/>
          </a:stretch>
        </p:blipFill>
        <p:spPr>
          <a:xfrm>
            <a:off x="0" y="3491503"/>
            <a:ext cx="7711439" cy="3272519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B3315FFB-666B-F2B2-8166-B6DBE2FD0417}"/>
              </a:ext>
            </a:extLst>
          </p:cNvPr>
          <p:cNvSpPr/>
          <p:nvPr/>
        </p:nvSpPr>
        <p:spPr>
          <a:xfrm>
            <a:off x="259080" y="2415540"/>
            <a:ext cx="3421380" cy="3048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D6A0EDD-184A-F046-CBAB-B858B7657069}"/>
              </a:ext>
            </a:extLst>
          </p:cNvPr>
          <p:cNvSpPr/>
          <p:nvPr/>
        </p:nvSpPr>
        <p:spPr>
          <a:xfrm>
            <a:off x="259080" y="5958840"/>
            <a:ext cx="3741420" cy="3048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E9F4973-C4B0-C0B2-095C-27A795EC8553}"/>
              </a:ext>
            </a:extLst>
          </p:cNvPr>
          <p:cNvSpPr txBox="1"/>
          <p:nvPr/>
        </p:nvSpPr>
        <p:spPr>
          <a:xfrm>
            <a:off x="6042661" y="5565138"/>
            <a:ext cx="147066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N=100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；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P_u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=0.20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；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用估计曲率</a:t>
            </a:r>
          </a:p>
        </p:txBody>
      </p:sp>
    </p:spTree>
    <p:extLst>
      <p:ext uri="{BB962C8B-B14F-4D97-AF65-F5344CB8AC3E}">
        <p14:creationId xmlns:p14="http://schemas.microsoft.com/office/powerpoint/2010/main" val="12437822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>
            <a:extLst>
              <a:ext uri="{FF2B5EF4-FFF2-40B4-BE49-F238E27FC236}">
                <a16:creationId xmlns:a16="http://schemas.microsoft.com/office/drawing/2014/main" id="{A8401213-810E-97F5-CFC0-895F5AA4B3ED}"/>
              </a:ext>
            </a:extLst>
          </p:cNvPr>
          <p:cNvSpPr txBox="1"/>
          <p:nvPr/>
        </p:nvSpPr>
        <p:spPr>
          <a:xfrm>
            <a:off x="287606" y="1413151"/>
            <a:ext cx="1141671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policy | </a:t>
            </a:r>
            <a:r>
              <a:rPr lang="en-US" altLang="zh-CN" dirty="0" err="1"/>
              <a:t>mean_VAoI</a:t>
            </a:r>
            <a:r>
              <a:rPr lang="en-US" altLang="zh-CN" dirty="0"/>
              <a:t> | </a:t>
            </a:r>
            <a:r>
              <a:rPr lang="en-US" altLang="zh-CN" dirty="0" err="1"/>
              <a:t>mean_max_VAoI</a:t>
            </a:r>
            <a:r>
              <a:rPr lang="en-US" altLang="zh-CN" dirty="0"/>
              <a:t> | p95_max_VAoI | </a:t>
            </a:r>
            <a:r>
              <a:rPr lang="en-US" altLang="zh-CN" dirty="0" err="1"/>
              <a:t>avg_tx_per_slot</a:t>
            </a:r>
            <a:r>
              <a:rPr lang="en-US" altLang="zh-CN" dirty="0"/>
              <a:t> | </a:t>
            </a:r>
            <a:r>
              <a:rPr lang="en-US" altLang="zh-CN" dirty="0" err="1"/>
              <a:t>successful_decodes_per_tx</a:t>
            </a:r>
            <a:endParaRPr lang="en-US" altLang="zh-CN" dirty="0"/>
          </a:p>
          <a:p>
            <a:r>
              <a:rPr lang="zh-CN" altLang="en-US" dirty="0"/>
              <a:t>freshness_backoff | 8.29842 | 29.5625 | 38.3333 | 9.76912 | 5.39075</a:t>
            </a:r>
          </a:p>
          <a:p>
            <a:r>
              <a:rPr lang="zh-CN" altLang="en-US" dirty="0"/>
              <a:t>orc_freshness_backoff | 7.73416 | 27.6758 | 35.3333 | 10.4337 | 5.20958</a:t>
            </a:r>
          </a:p>
          <a:p>
            <a:r>
              <a:rPr lang="zh-CN" altLang="en-US" dirty="0"/>
              <a:t>random | 11.0612 | 37.007 | 53.5167 | 17.953 | 3.25112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2308A70-EDA6-091C-6B7C-F9BEA5A22B0E}"/>
              </a:ext>
            </a:extLst>
          </p:cNvPr>
          <p:cNvSpPr txBox="1"/>
          <p:nvPr/>
        </p:nvSpPr>
        <p:spPr>
          <a:xfrm>
            <a:off x="287605" y="3851088"/>
            <a:ext cx="758600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freshness_backoff | 8.33242 | 29.4744 | 38 | 9.87018 | 5.35892</a:t>
            </a:r>
          </a:p>
          <a:p>
            <a:r>
              <a:rPr lang="zh-CN" altLang="en-US" dirty="0"/>
              <a:t>orc_freshness_backoff | 7.75543 | 27.6011 | 34.6667 | 10.534 | 5.1756</a:t>
            </a:r>
          </a:p>
          <a:p>
            <a:r>
              <a:rPr lang="zh-CN" altLang="en-US" dirty="0"/>
              <a:t>random | 11.0612 | 37.007 | 53.5167 | 17.953 | 3.25112</a:t>
            </a:r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19BFA1E4-4478-3648-52AF-A958C04F73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4184587"/>
              </p:ext>
            </p:extLst>
          </p:nvPr>
        </p:nvGraphicFramePr>
        <p:xfrm>
          <a:off x="287605" y="369170"/>
          <a:ext cx="10741465" cy="101092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654930">
                  <a:extLst>
                    <a:ext uri="{9D8B030D-6E8A-4147-A177-3AD203B41FA5}">
                      <a16:colId xmlns:a16="http://schemas.microsoft.com/office/drawing/2014/main" val="3978037689"/>
                    </a:ext>
                  </a:extLst>
                </a:gridCol>
                <a:gridCol w="896166">
                  <a:extLst>
                    <a:ext uri="{9D8B030D-6E8A-4147-A177-3AD203B41FA5}">
                      <a16:colId xmlns:a16="http://schemas.microsoft.com/office/drawing/2014/main" val="3690039321"/>
                    </a:ext>
                  </a:extLst>
                </a:gridCol>
                <a:gridCol w="1580090">
                  <a:extLst>
                    <a:ext uri="{9D8B030D-6E8A-4147-A177-3AD203B41FA5}">
                      <a16:colId xmlns:a16="http://schemas.microsoft.com/office/drawing/2014/main" val="3306072874"/>
                    </a:ext>
                  </a:extLst>
                </a:gridCol>
                <a:gridCol w="978568">
                  <a:extLst>
                    <a:ext uri="{9D8B030D-6E8A-4147-A177-3AD203B41FA5}">
                      <a16:colId xmlns:a16="http://schemas.microsoft.com/office/drawing/2014/main" val="1637220668"/>
                    </a:ext>
                  </a:extLst>
                </a:gridCol>
                <a:gridCol w="1402776">
                  <a:extLst>
                    <a:ext uri="{9D8B030D-6E8A-4147-A177-3AD203B41FA5}">
                      <a16:colId xmlns:a16="http://schemas.microsoft.com/office/drawing/2014/main" val="1299138137"/>
                    </a:ext>
                  </a:extLst>
                </a:gridCol>
                <a:gridCol w="867696">
                  <a:extLst>
                    <a:ext uri="{9D8B030D-6E8A-4147-A177-3AD203B41FA5}">
                      <a16:colId xmlns:a16="http://schemas.microsoft.com/office/drawing/2014/main" val="3801103070"/>
                    </a:ext>
                  </a:extLst>
                </a:gridCol>
                <a:gridCol w="1692010">
                  <a:extLst>
                    <a:ext uri="{9D8B030D-6E8A-4147-A177-3AD203B41FA5}">
                      <a16:colId xmlns:a16="http://schemas.microsoft.com/office/drawing/2014/main" val="4042415569"/>
                    </a:ext>
                  </a:extLst>
                </a:gridCol>
                <a:gridCol w="1580465">
                  <a:extLst>
                    <a:ext uri="{9D8B030D-6E8A-4147-A177-3AD203B41FA5}">
                      <a16:colId xmlns:a16="http://schemas.microsoft.com/office/drawing/2014/main" val="2047208367"/>
                    </a:ext>
                  </a:extLst>
                </a:gridCol>
                <a:gridCol w="1088764">
                  <a:extLst>
                    <a:ext uri="{9D8B030D-6E8A-4147-A177-3AD203B41FA5}">
                      <a16:colId xmlns:a16="http://schemas.microsoft.com/office/drawing/2014/main" val="41429329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N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zh-CN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update</a:t>
                      </a:r>
                    </a:p>
                    <a:p>
                      <a:pPr algn="ctr"/>
                      <a:r>
                        <a:rPr lang="en-US" altLang="zh-CN" dirty="0"/>
                        <a:t>P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q_min</a:t>
                      </a:r>
                      <a:r>
                        <a:rPr lang="en-US" altLang="zh-CN" dirty="0"/>
                        <a:t>-max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age_</a:t>
                      </a:r>
                      <a:br>
                        <a:rPr lang="en-US" altLang="zh-CN" dirty="0"/>
                      </a:br>
                      <a:r>
                        <a:rPr lang="zh-CN" altLang="zh-CN" dirty="0"/>
                        <a:t>weight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threshold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temperature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congestion_</a:t>
                      </a:r>
                      <a:br>
                        <a:rPr lang="en-US" altLang="zh-CN" dirty="0"/>
                      </a:br>
                      <a:r>
                        <a:rPr lang="zh-CN" altLang="zh-CN" dirty="0"/>
                        <a:t>backoff_weight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attempt_</a:t>
                      </a:r>
                      <a:br>
                        <a:rPr lang="en-US" altLang="zh-CN" dirty="0"/>
                      </a:br>
                      <a:r>
                        <a:rPr lang="zh-CN" altLang="zh-CN" dirty="0"/>
                        <a:t>backoff_factor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curvature_weight</a:t>
                      </a:r>
                      <a:endParaRPr lang="zh-CN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945104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100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0.2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0.01</a:t>
                      </a:r>
                      <a:r>
                        <a:rPr lang="en-US" altLang="zh-CN" dirty="0"/>
                        <a:t>-</a:t>
                      </a:r>
                      <a:r>
                        <a:rPr lang="zh-CN" altLang="zh-CN" dirty="0"/>
                        <a:t> 0.45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0.003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zh-CN" dirty="0"/>
                        <a:t>0.6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0.20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zh-CN" dirty="0"/>
                        <a:t>0.08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0.90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0.75</a:t>
                      </a:r>
                      <a:endParaRPr lang="zh-CN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49513840"/>
                  </a:ext>
                </a:extLst>
              </a:tr>
            </a:tbl>
          </a:graphicData>
        </a:graphic>
      </p:graphicFrame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C4FAB3B2-8608-CC2D-6227-F31FAAD2FD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1213111"/>
              </p:ext>
            </p:extLst>
          </p:nvPr>
        </p:nvGraphicFramePr>
        <p:xfrm>
          <a:off x="287605" y="2786510"/>
          <a:ext cx="10741465" cy="101092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654930">
                  <a:extLst>
                    <a:ext uri="{9D8B030D-6E8A-4147-A177-3AD203B41FA5}">
                      <a16:colId xmlns:a16="http://schemas.microsoft.com/office/drawing/2014/main" val="3978037689"/>
                    </a:ext>
                  </a:extLst>
                </a:gridCol>
                <a:gridCol w="896166">
                  <a:extLst>
                    <a:ext uri="{9D8B030D-6E8A-4147-A177-3AD203B41FA5}">
                      <a16:colId xmlns:a16="http://schemas.microsoft.com/office/drawing/2014/main" val="3690039321"/>
                    </a:ext>
                  </a:extLst>
                </a:gridCol>
                <a:gridCol w="1580090">
                  <a:extLst>
                    <a:ext uri="{9D8B030D-6E8A-4147-A177-3AD203B41FA5}">
                      <a16:colId xmlns:a16="http://schemas.microsoft.com/office/drawing/2014/main" val="3306072874"/>
                    </a:ext>
                  </a:extLst>
                </a:gridCol>
                <a:gridCol w="978568">
                  <a:extLst>
                    <a:ext uri="{9D8B030D-6E8A-4147-A177-3AD203B41FA5}">
                      <a16:colId xmlns:a16="http://schemas.microsoft.com/office/drawing/2014/main" val="1637220668"/>
                    </a:ext>
                  </a:extLst>
                </a:gridCol>
                <a:gridCol w="1402776">
                  <a:extLst>
                    <a:ext uri="{9D8B030D-6E8A-4147-A177-3AD203B41FA5}">
                      <a16:colId xmlns:a16="http://schemas.microsoft.com/office/drawing/2014/main" val="1299138137"/>
                    </a:ext>
                  </a:extLst>
                </a:gridCol>
                <a:gridCol w="867696">
                  <a:extLst>
                    <a:ext uri="{9D8B030D-6E8A-4147-A177-3AD203B41FA5}">
                      <a16:colId xmlns:a16="http://schemas.microsoft.com/office/drawing/2014/main" val="3801103070"/>
                    </a:ext>
                  </a:extLst>
                </a:gridCol>
                <a:gridCol w="1692010">
                  <a:extLst>
                    <a:ext uri="{9D8B030D-6E8A-4147-A177-3AD203B41FA5}">
                      <a16:colId xmlns:a16="http://schemas.microsoft.com/office/drawing/2014/main" val="4042415569"/>
                    </a:ext>
                  </a:extLst>
                </a:gridCol>
                <a:gridCol w="1580465">
                  <a:extLst>
                    <a:ext uri="{9D8B030D-6E8A-4147-A177-3AD203B41FA5}">
                      <a16:colId xmlns:a16="http://schemas.microsoft.com/office/drawing/2014/main" val="2047208367"/>
                    </a:ext>
                  </a:extLst>
                </a:gridCol>
                <a:gridCol w="1088764">
                  <a:extLst>
                    <a:ext uri="{9D8B030D-6E8A-4147-A177-3AD203B41FA5}">
                      <a16:colId xmlns:a16="http://schemas.microsoft.com/office/drawing/2014/main" val="41429329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N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zh-CN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update</a:t>
                      </a:r>
                    </a:p>
                    <a:p>
                      <a:pPr algn="ctr"/>
                      <a:r>
                        <a:rPr lang="en-US" altLang="zh-CN" dirty="0"/>
                        <a:t>P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q_min</a:t>
                      </a:r>
                      <a:r>
                        <a:rPr lang="en-US" altLang="zh-CN" dirty="0"/>
                        <a:t>-max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age_</a:t>
                      </a:r>
                      <a:br>
                        <a:rPr lang="en-US" altLang="zh-CN" dirty="0"/>
                      </a:br>
                      <a:r>
                        <a:rPr lang="zh-CN" altLang="zh-CN" dirty="0"/>
                        <a:t>weight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threshold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temperature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congestion_</a:t>
                      </a:r>
                      <a:br>
                        <a:rPr lang="en-US" altLang="zh-CN" dirty="0"/>
                      </a:br>
                      <a:r>
                        <a:rPr lang="zh-CN" altLang="zh-CN" dirty="0"/>
                        <a:t>backoff_weight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attempt_</a:t>
                      </a:r>
                      <a:br>
                        <a:rPr lang="en-US" altLang="zh-CN" dirty="0"/>
                      </a:br>
                      <a:r>
                        <a:rPr lang="zh-CN" altLang="zh-CN" dirty="0"/>
                        <a:t>backoff_factor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curvature_weight</a:t>
                      </a:r>
                      <a:endParaRPr lang="zh-CN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945104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100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0.2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0.01</a:t>
                      </a:r>
                      <a:r>
                        <a:rPr lang="en-US" altLang="zh-CN" dirty="0"/>
                        <a:t>-</a:t>
                      </a:r>
                      <a:r>
                        <a:rPr lang="zh-CN" altLang="zh-CN" dirty="0"/>
                        <a:t> 0.45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0.003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zh-CN" dirty="0"/>
                        <a:t>0.6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0.20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zh-CN" dirty="0"/>
                        <a:t>0.08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1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0.75</a:t>
                      </a:r>
                      <a:endParaRPr lang="zh-CN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49513840"/>
                  </a:ext>
                </a:extLst>
              </a:tr>
            </a:tbl>
          </a:graphicData>
        </a:graphic>
      </p:graphicFrame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23218076-5005-DAD6-B76B-D09815ADFE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3268627"/>
              </p:ext>
            </p:extLst>
          </p:nvPr>
        </p:nvGraphicFramePr>
        <p:xfrm>
          <a:off x="287605" y="5060560"/>
          <a:ext cx="10741465" cy="101092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654930">
                  <a:extLst>
                    <a:ext uri="{9D8B030D-6E8A-4147-A177-3AD203B41FA5}">
                      <a16:colId xmlns:a16="http://schemas.microsoft.com/office/drawing/2014/main" val="3978037689"/>
                    </a:ext>
                  </a:extLst>
                </a:gridCol>
                <a:gridCol w="896166">
                  <a:extLst>
                    <a:ext uri="{9D8B030D-6E8A-4147-A177-3AD203B41FA5}">
                      <a16:colId xmlns:a16="http://schemas.microsoft.com/office/drawing/2014/main" val="3690039321"/>
                    </a:ext>
                  </a:extLst>
                </a:gridCol>
                <a:gridCol w="1580090">
                  <a:extLst>
                    <a:ext uri="{9D8B030D-6E8A-4147-A177-3AD203B41FA5}">
                      <a16:colId xmlns:a16="http://schemas.microsoft.com/office/drawing/2014/main" val="3306072874"/>
                    </a:ext>
                  </a:extLst>
                </a:gridCol>
                <a:gridCol w="978568">
                  <a:extLst>
                    <a:ext uri="{9D8B030D-6E8A-4147-A177-3AD203B41FA5}">
                      <a16:colId xmlns:a16="http://schemas.microsoft.com/office/drawing/2014/main" val="1637220668"/>
                    </a:ext>
                  </a:extLst>
                </a:gridCol>
                <a:gridCol w="1402776">
                  <a:extLst>
                    <a:ext uri="{9D8B030D-6E8A-4147-A177-3AD203B41FA5}">
                      <a16:colId xmlns:a16="http://schemas.microsoft.com/office/drawing/2014/main" val="1299138137"/>
                    </a:ext>
                  </a:extLst>
                </a:gridCol>
                <a:gridCol w="867696">
                  <a:extLst>
                    <a:ext uri="{9D8B030D-6E8A-4147-A177-3AD203B41FA5}">
                      <a16:colId xmlns:a16="http://schemas.microsoft.com/office/drawing/2014/main" val="3801103070"/>
                    </a:ext>
                  </a:extLst>
                </a:gridCol>
                <a:gridCol w="1692010">
                  <a:extLst>
                    <a:ext uri="{9D8B030D-6E8A-4147-A177-3AD203B41FA5}">
                      <a16:colId xmlns:a16="http://schemas.microsoft.com/office/drawing/2014/main" val="4042415569"/>
                    </a:ext>
                  </a:extLst>
                </a:gridCol>
                <a:gridCol w="1580465">
                  <a:extLst>
                    <a:ext uri="{9D8B030D-6E8A-4147-A177-3AD203B41FA5}">
                      <a16:colId xmlns:a16="http://schemas.microsoft.com/office/drawing/2014/main" val="2047208367"/>
                    </a:ext>
                  </a:extLst>
                </a:gridCol>
                <a:gridCol w="1088764">
                  <a:extLst>
                    <a:ext uri="{9D8B030D-6E8A-4147-A177-3AD203B41FA5}">
                      <a16:colId xmlns:a16="http://schemas.microsoft.com/office/drawing/2014/main" val="41429329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N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zh-CN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update</a:t>
                      </a:r>
                    </a:p>
                    <a:p>
                      <a:pPr algn="ctr"/>
                      <a:r>
                        <a:rPr lang="en-US" altLang="zh-CN" dirty="0"/>
                        <a:t>P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q_min</a:t>
                      </a:r>
                      <a:r>
                        <a:rPr lang="en-US" altLang="zh-CN" dirty="0"/>
                        <a:t>-max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age_</a:t>
                      </a:r>
                      <a:br>
                        <a:rPr lang="en-US" altLang="zh-CN" dirty="0"/>
                      </a:br>
                      <a:r>
                        <a:rPr lang="zh-CN" altLang="zh-CN" dirty="0"/>
                        <a:t>weight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threshold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temperature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congestion_</a:t>
                      </a:r>
                      <a:br>
                        <a:rPr lang="en-US" altLang="zh-CN" dirty="0"/>
                      </a:br>
                      <a:r>
                        <a:rPr lang="zh-CN" altLang="zh-CN" dirty="0"/>
                        <a:t>backoff_weight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attempt_</a:t>
                      </a:r>
                      <a:br>
                        <a:rPr lang="en-US" altLang="zh-CN" dirty="0"/>
                      </a:br>
                      <a:r>
                        <a:rPr lang="zh-CN" altLang="zh-CN" dirty="0"/>
                        <a:t>backoff_factor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curvature_weight</a:t>
                      </a:r>
                      <a:endParaRPr lang="zh-CN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945104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100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0.1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0.01</a:t>
                      </a:r>
                      <a:r>
                        <a:rPr lang="en-US" altLang="zh-CN" dirty="0"/>
                        <a:t>-</a:t>
                      </a:r>
                      <a:r>
                        <a:rPr lang="zh-CN" altLang="zh-CN" dirty="0"/>
                        <a:t> 0.45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0.003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zh-CN" dirty="0"/>
                        <a:t>0.6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0.20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zh-CN" dirty="0"/>
                        <a:t>0.08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0.9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0.75</a:t>
                      </a:r>
                      <a:endParaRPr lang="zh-CN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49513840"/>
                  </a:ext>
                </a:extLst>
              </a:tr>
            </a:tbl>
          </a:graphicData>
        </a:graphic>
      </p:graphicFrame>
      <p:sp>
        <p:nvSpPr>
          <p:cNvPr id="16" name="文本框 15">
            <a:extLst>
              <a:ext uri="{FF2B5EF4-FFF2-40B4-BE49-F238E27FC236}">
                <a16:creationId xmlns:a16="http://schemas.microsoft.com/office/drawing/2014/main" id="{10A794F6-1756-3252-47A1-FB6EA2A6262D}"/>
              </a:ext>
            </a:extLst>
          </p:cNvPr>
          <p:cNvSpPr txBox="1"/>
          <p:nvPr/>
        </p:nvSpPr>
        <p:spPr>
          <a:xfrm>
            <a:off x="287605" y="6071480"/>
            <a:ext cx="933039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freshness_backoff | 4.34595 | 17.4923 | 23 | 8.21088 | 5.94705</a:t>
            </a:r>
          </a:p>
          <a:p>
            <a:r>
              <a:rPr lang="zh-CN" altLang="en-US" dirty="0"/>
              <a:t>orc_freshness_backoff | 3.8942 | 15.9239 | 21.6667 | 8.87193 | 5.75245</a:t>
            </a:r>
          </a:p>
          <a:p>
            <a:r>
              <a:rPr lang="zh-CN" altLang="en-US" dirty="0"/>
              <a:t>random | 5.50023 | 20.8347 | 30.1833 | 17.953 | 3.25112</a:t>
            </a:r>
          </a:p>
        </p:txBody>
      </p:sp>
    </p:spTree>
    <p:extLst>
      <p:ext uri="{BB962C8B-B14F-4D97-AF65-F5344CB8AC3E}">
        <p14:creationId xmlns:p14="http://schemas.microsoft.com/office/powerpoint/2010/main" val="42540898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B94ACA-97A1-980C-A2B8-C93927C877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FF81043C-EA42-9DF5-4F2A-5E3479F5E7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3997892"/>
              </p:ext>
            </p:extLst>
          </p:nvPr>
        </p:nvGraphicFramePr>
        <p:xfrm>
          <a:off x="287605" y="249409"/>
          <a:ext cx="10741465" cy="101092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654930">
                  <a:extLst>
                    <a:ext uri="{9D8B030D-6E8A-4147-A177-3AD203B41FA5}">
                      <a16:colId xmlns:a16="http://schemas.microsoft.com/office/drawing/2014/main" val="3978037689"/>
                    </a:ext>
                  </a:extLst>
                </a:gridCol>
                <a:gridCol w="896166">
                  <a:extLst>
                    <a:ext uri="{9D8B030D-6E8A-4147-A177-3AD203B41FA5}">
                      <a16:colId xmlns:a16="http://schemas.microsoft.com/office/drawing/2014/main" val="3690039321"/>
                    </a:ext>
                  </a:extLst>
                </a:gridCol>
                <a:gridCol w="1580090">
                  <a:extLst>
                    <a:ext uri="{9D8B030D-6E8A-4147-A177-3AD203B41FA5}">
                      <a16:colId xmlns:a16="http://schemas.microsoft.com/office/drawing/2014/main" val="3306072874"/>
                    </a:ext>
                  </a:extLst>
                </a:gridCol>
                <a:gridCol w="978568">
                  <a:extLst>
                    <a:ext uri="{9D8B030D-6E8A-4147-A177-3AD203B41FA5}">
                      <a16:colId xmlns:a16="http://schemas.microsoft.com/office/drawing/2014/main" val="1637220668"/>
                    </a:ext>
                  </a:extLst>
                </a:gridCol>
                <a:gridCol w="1402776">
                  <a:extLst>
                    <a:ext uri="{9D8B030D-6E8A-4147-A177-3AD203B41FA5}">
                      <a16:colId xmlns:a16="http://schemas.microsoft.com/office/drawing/2014/main" val="1299138137"/>
                    </a:ext>
                  </a:extLst>
                </a:gridCol>
                <a:gridCol w="867696">
                  <a:extLst>
                    <a:ext uri="{9D8B030D-6E8A-4147-A177-3AD203B41FA5}">
                      <a16:colId xmlns:a16="http://schemas.microsoft.com/office/drawing/2014/main" val="3801103070"/>
                    </a:ext>
                  </a:extLst>
                </a:gridCol>
                <a:gridCol w="1692010">
                  <a:extLst>
                    <a:ext uri="{9D8B030D-6E8A-4147-A177-3AD203B41FA5}">
                      <a16:colId xmlns:a16="http://schemas.microsoft.com/office/drawing/2014/main" val="4042415569"/>
                    </a:ext>
                  </a:extLst>
                </a:gridCol>
                <a:gridCol w="1580465">
                  <a:extLst>
                    <a:ext uri="{9D8B030D-6E8A-4147-A177-3AD203B41FA5}">
                      <a16:colId xmlns:a16="http://schemas.microsoft.com/office/drawing/2014/main" val="2047208367"/>
                    </a:ext>
                  </a:extLst>
                </a:gridCol>
                <a:gridCol w="1088764">
                  <a:extLst>
                    <a:ext uri="{9D8B030D-6E8A-4147-A177-3AD203B41FA5}">
                      <a16:colId xmlns:a16="http://schemas.microsoft.com/office/drawing/2014/main" val="41429329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N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zh-CN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update</a:t>
                      </a:r>
                    </a:p>
                    <a:p>
                      <a:pPr algn="ctr"/>
                      <a:r>
                        <a:rPr lang="en-US" altLang="zh-CN" dirty="0"/>
                        <a:t>P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q_min</a:t>
                      </a:r>
                      <a:r>
                        <a:rPr lang="en-US" altLang="zh-CN" dirty="0"/>
                        <a:t>-max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age_</a:t>
                      </a:r>
                      <a:br>
                        <a:rPr lang="en-US" altLang="zh-CN" dirty="0"/>
                      </a:br>
                      <a:r>
                        <a:rPr lang="zh-CN" altLang="zh-CN" dirty="0"/>
                        <a:t>weight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threshold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temperature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congestion_</a:t>
                      </a:r>
                      <a:br>
                        <a:rPr lang="en-US" altLang="zh-CN" dirty="0"/>
                      </a:br>
                      <a:r>
                        <a:rPr lang="zh-CN" altLang="zh-CN" dirty="0"/>
                        <a:t>backoff_weight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attempt_</a:t>
                      </a:r>
                      <a:br>
                        <a:rPr lang="en-US" altLang="zh-CN" dirty="0"/>
                      </a:br>
                      <a:r>
                        <a:rPr lang="zh-CN" altLang="zh-CN" dirty="0"/>
                        <a:t>backoff_factor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curvature_weight</a:t>
                      </a:r>
                      <a:endParaRPr lang="zh-CN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945104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100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0.1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0.01</a:t>
                      </a:r>
                      <a:r>
                        <a:rPr lang="en-US" altLang="zh-CN" dirty="0"/>
                        <a:t>-</a:t>
                      </a:r>
                      <a:r>
                        <a:rPr lang="zh-CN" altLang="zh-CN" dirty="0"/>
                        <a:t> 0.45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0.003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zh-CN" dirty="0"/>
                        <a:t>0.6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0.20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zh-CN" dirty="0"/>
                        <a:t>0.08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0.9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0.75</a:t>
                      </a:r>
                      <a:endParaRPr lang="zh-CN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49513840"/>
                  </a:ext>
                </a:extLst>
              </a:tr>
            </a:tbl>
          </a:graphicData>
        </a:graphic>
      </p:graphicFrame>
      <p:sp>
        <p:nvSpPr>
          <p:cNvPr id="16" name="文本框 15">
            <a:extLst>
              <a:ext uri="{FF2B5EF4-FFF2-40B4-BE49-F238E27FC236}">
                <a16:creationId xmlns:a16="http://schemas.microsoft.com/office/drawing/2014/main" id="{D0FA6432-1747-1854-91F7-62B1C2225810}"/>
              </a:ext>
            </a:extLst>
          </p:cNvPr>
          <p:cNvSpPr txBox="1"/>
          <p:nvPr/>
        </p:nvSpPr>
        <p:spPr>
          <a:xfrm>
            <a:off x="287605" y="1260329"/>
            <a:ext cx="933039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freshness_backoff | 4.34595 | 17.4923 | 23 | 8.21088 | 5.94705</a:t>
            </a:r>
          </a:p>
          <a:p>
            <a:r>
              <a:rPr lang="zh-CN" altLang="en-US" dirty="0"/>
              <a:t>orc_freshness_backoff | 3.8942 | 15.9239 | 21.6667 | 8.87193 | 5.75245</a:t>
            </a:r>
          </a:p>
          <a:p>
            <a:r>
              <a:rPr lang="zh-CN" altLang="en-US" dirty="0"/>
              <a:t>random | 5.50023 | 20.8347 | 30.1833 | 17.953 | 3.25112</a:t>
            </a: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35120655-0009-F230-F816-7478331737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9468310"/>
              </p:ext>
            </p:extLst>
          </p:nvPr>
        </p:nvGraphicFramePr>
        <p:xfrm>
          <a:off x="287605" y="2418080"/>
          <a:ext cx="10741465" cy="101092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654930">
                  <a:extLst>
                    <a:ext uri="{9D8B030D-6E8A-4147-A177-3AD203B41FA5}">
                      <a16:colId xmlns:a16="http://schemas.microsoft.com/office/drawing/2014/main" val="3978037689"/>
                    </a:ext>
                  </a:extLst>
                </a:gridCol>
                <a:gridCol w="896166">
                  <a:extLst>
                    <a:ext uri="{9D8B030D-6E8A-4147-A177-3AD203B41FA5}">
                      <a16:colId xmlns:a16="http://schemas.microsoft.com/office/drawing/2014/main" val="3690039321"/>
                    </a:ext>
                  </a:extLst>
                </a:gridCol>
                <a:gridCol w="1580090">
                  <a:extLst>
                    <a:ext uri="{9D8B030D-6E8A-4147-A177-3AD203B41FA5}">
                      <a16:colId xmlns:a16="http://schemas.microsoft.com/office/drawing/2014/main" val="3306072874"/>
                    </a:ext>
                  </a:extLst>
                </a:gridCol>
                <a:gridCol w="978568">
                  <a:extLst>
                    <a:ext uri="{9D8B030D-6E8A-4147-A177-3AD203B41FA5}">
                      <a16:colId xmlns:a16="http://schemas.microsoft.com/office/drawing/2014/main" val="1637220668"/>
                    </a:ext>
                  </a:extLst>
                </a:gridCol>
                <a:gridCol w="1402776">
                  <a:extLst>
                    <a:ext uri="{9D8B030D-6E8A-4147-A177-3AD203B41FA5}">
                      <a16:colId xmlns:a16="http://schemas.microsoft.com/office/drawing/2014/main" val="1299138137"/>
                    </a:ext>
                  </a:extLst>
                </a:gridCol>
                <a:gridCol w="867696">
                  <a:extLst>
                    <a:ext uri="{9D8B030D-6E8A-4147-A177-3AD203B41FA5}">
                      <a16:colId xmlns:a16="http://schemas.microsoft.com/office/drawing/2014/main" val="3801103070"/>
                    </a:ext>
                  </a:extLst>
                </a:gridCol>
                <a:gridCol w="1692010">
                  <a:extLst>
                    <a:ext uri="{9D8B030D-6E8A-4147-A177-3AD203B41FA5}">
                      <a16:colId xmlns:a16="http://schemas.microsoft.com/office/drawing/2014/main" val="4042415569"/>
                    </a:ext>
                  </a:extLst>
                </a:gridCol>
                <a:gridCol w="1580465">
                  <a:extLst>
                    <a:ext uri="{9D8B030D-6E8A-4147-A177-3AD203B41FA5}">
                      <a16:colId xmlns:a16="http://schemas.microsoft.com/office/drawing/2014/main" val="2047208367"/>
                    </a:ext>
                  </a:extLst>
                </a:gridCol>
                <a:gridCol w="1088764">
                  <a:extLst>
                    <a:ext uri="{9D8B030D-6E8A-4147-A177-3AD203B41FA5}">
                      <a16:colId xmlns:a16="http://schemas.microsoft.com/office/drawing/2014/main" val="41429329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N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zh-CN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update</a:t>
                      </a:r>
                    </a:p>
                    <a:p>
                      <a:pPr algn="ctr"/>
                      <a:r>
                        <a:rPr lang="en-US" altLang="zh-CN" dirty="0"/>
                        <a:t>P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q_min</a:t>
                      </a:r>
                      <a:r>
                        <a:rPr lang="en-US" altLang="zh-CN" dirty="0"/>
                        <a:t>-max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age_</a:t>
                      </a:r>
                      <a:br>
                        <a:rPr lang="en-US" altLang="zh-CN" dirty="0"/>
                      </a:br>
                      <a:r>
                        <a:rPr lang="zh-CN" altLang="zh-CN" dirty="0"/>
                        <a:t>weight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threshold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temperature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congestion_</a:t>
                      </a:r>
                      <a:br>
                        <a:rPr lang="en-US" altLang="zh-CN" dirty="0"/>
                      </a:br>
                      <a:r>
                        <a:rPr lang="zh-CN" altLang="zh-CN" dirty="0"/>
                        <a:t>backoff_weight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attempt_</a:t>
                      </a:r>
                      <a:br>
                        <a:rPr lang="en-US" altLang="zh-CN" dirty="0"/>
                      </a:br>
                      <a:r>
                        <a:rPr lang="zh-CN" altLang="zh-CN" dirty="0"/>
                        <a:t>backoff_factor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curvature_weight</a:t>
                      </a:r>
                      <a:endParaRPr lang="zh-CN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945104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100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0.1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0.01</a:t>
                      </a:r>
                      <a:r>
                        <a:rPr lang="en-US" altLang="zh-CN" dirty="0"/>
                        <a:t>-</a:t>
                      </a:r>
                      <a:r>
                        <a:rPr lang="zh-CN" altLang="zh-CN" dirty="0"/>
                        <a:t> 0.45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0.003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zh-CN" dirty="0"/>
                        <a:t>0.6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0.20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zh-CN" dirty="0"/>
                        <a:t>0.08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0.9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1</a:t>
                      </a:r>
                      <a:endParaRPr lang="zh-CN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49513840"/>
                  </a:ext>
                </a:extLst>
              </a:tr>
            </a:tbl>
          </a:graphicData>
        </a:graphic>
      </p:graphicFrame>
      <p:sp>
        <p:nvSpPr>
          <p:cNvPr id="3" name="文本框 2">
            <a:extLst>
              <a:ext uri="{FF2B5EF4-FFF2-40B4-BE49-F238E27FC236}">
                <a16:creationId xmlns:a16="http://schemas.microsoft.com/office/drawing/2014/main" id="{43BCBFDF-1BC0-D1B1-A110-53AAC370CE17}"/>
              </a:ext>
            </a:extLst>
          </p:cNvPr>
          <p:cNvSpPr txBox="1"/>
          <p:nvPr/>
        </p:nvSpPr>
        <p:spPr>
          <a:xfrm>
            <a:off x="287605" y="3429000"/>
            <a:ext cx="933039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/>
              <a:t>freshness_backoff</a:t>
            </a:r>
            <a:r>
              <a:rPr lang="en-US" altLang="zh-CN" dirty="0"/>
              <a:t> | 4.34595 | 17.4923 | 23 | 8.21088 | 5.94705</a:t>
            </a:r>
          </a:p>
          <a:p>
            <a:r>
              <a:rPr lang="en-US" altLang="zh-CN" dirty="0" err="1"/>
              <a:t>orc_freshness_backoff</a:t>
            </a:r>
            <a:r>
              <a:rPr lang="en-US" altLang="zh-CN" dirty="0"/>
              <a:t> | 3.85496 | 15.786 | 21.5167 | 9.12702 | 5.66069</a:t>
            </a:r>
          </a:p>
          <a:p>
            <a:r>
              <a:rPr lang="en-US" altLang="zh-CN" dirty="0"/>
              <a:t>random | 5.50023 | 20.8347 | 30.1833 | 17.953 | 3.25112</a:t>
            </a:r>
            <a:endParaRPr lang="zh-CN" altLang="en-US" dirty="0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68FE5B63-ED2C-95CD-617E-9967B6F184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3352895"/>
              </p:ext>
            </p:extLst>
          </p:nvPr>
        </p:nvGraphicFramePr>
        <p:xfrm>
          <a:off x="287605" y="4586751"/>
          <a:ext cx="10741465" cy="101092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654930">
                  <a:extLst>
                    <a:ext uri="{9D8B030D-6E8A-4147-A177-3AD203B41FA5}">
                      <a16:colId xmlns:a16="http://schemas.microsoft.com/office/drawing/2014/main" val="3978037689"/>
                    </a:ext>
                  </a:extLst>
                </a:gridCol>
                <a:gridCol w="896166">
                  <a:extLst>
                    <a:ext uri="{9D8B030D-6E8A-4147-A177-3AD203B41FA5}">
                      <a16:colId xmlns:a16="http://schemas.microsoft.com/office/drawing/2014/main" val="3690039321"/>
                    </a:ext>
                  </a:extLst>
                </a:gridCol>
                <a:gridCol w="1580090">
                  <a:extLst>
                    <a:ext uri="{9D8B030D-6E8A-4147-A177-3AD203B41FA5}">
                      <a16:colId xmlns:a16="http://schemas.microsoft.com/office/drawing/2014/main" val="3306072874"/>
                    </a:ext>
                  </a:extLst>
                </a:gridCol>
                <a:gridCol w="978568">
                  <a:extLst>
                    <a:ext uri="{9D8B030D-6E8A-4147-A177-3AD203B41FA5}">
                      <a16:colId xmlns:a16="http://schemas.microsoft.com/office/drawing/2014/main" val="1637220668"/>
                    </a:ext>
                  </a:extLst>
                </a:gridCol>
                <a:gridCol w="1402776">
                  <a:extLst>
                    <a:ext uri="{9D8B030D-6E8A-4147-A177-3AD203B41FA5}">
                      <a16:colId xmlns:a16="http://schemas.microsoft.com/office/drawing/2014/main" val="1299138137"/>
                    </a:ext>
                  </a:extLst>
                </a:gridCol>
                <a:gridCol w="867696">
                  <a:extLst>
                    <a:ext uri="{9D8B030D-6E8A-4147-A177-3AD203B41FA5}">
                      <a16:colId xmlns:a16="http://schemas.microsoft.com/office/drawing/2014/main" val="3801103070"/>
                    </a:ext>
                  </a:extLst>
                </a:gridCol>
                <a:gridCol w="1692010">
                  <a:extLst>
                    <a:ext uri="{9D8B030D-6E8A-4147-A177-3AD203B41FA5}">
                      <a16:colId xmlns:a16="http://schemas.microsoft.com/office/drawing/2014/main" val="4042415569"/>
                    </a:ext>
                  </a:extLst>
                </a:gridCol>
                <a:gridCol w="1580465">
                  <a:extLst>
                    <a:ext uri="{9D8B030D-6E8A-4147-A177-3AD203B41FA5}">
                      <a16:colId xmlns:a16="http://schemas.microsoft.com/office/drawing/2014/main" val="2047208367"/>
                    </a:ext>
                  </a:extLst>
                </a:gridCol>
                <a:gridCol w="1088764">
                  <a:extLst>
                    <a:ext uri="{9D8B030D-6E8A-4147-A177-3AD203B41FA5}">
                      <a16:colId xmlns:a16="http://schemas.microsoft.com/office/drawing/2014/main" val="41429329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N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zh-CN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update</a:t>
                      </a:r>
                    </a:p>
                    <a:p>
                      <a:pPr algn="ctr"/>
                      <a:r>
                        <a:rPr lang="en-US" altLang="zh-CN" dirty="0"/>
                        <a:t>P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q_min</a:t>
                      </a:r>
                      <a:r>
                        <a:rPr lang="en-US" altLang="zh-CN" dirty="0"/>
                        <a:t>-max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age_</a:t>
                      </a:r>
                      <a:br>
                        <a:rPr lang="en-US" altLang="zh-CN" dirty="0"/>
                      </a:br>
                      <a:r>
                        <a:rPr lang="zh-CN" altLang="zh-CN" dirty="0"/>
                        <a:t>weight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threshold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temperature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congestion_</a:t>
                      </a:r>
                      <a:br>
                        <a:rPr lang="en-US" altLang="zh-CN" dirty="0"/>
                      </a:br>
                      <a:r>
                        <a:rPr lang="zh-CN" altLang="zh-CN" dirty="0"/>
                        <a:t>backoff_weight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attempt_</a:t>
                      </a:r>
                      <a:br>
                        <a:rPr lang="en-US" altLang="zh-CN" dirty="0"/>
                      </a:br>
                      <a:r>
                        <a:rPr lang="zh-CN" altLang="zh-CN" dirty="0"/>
                        <a:t>backoff_factor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curvature_weight</a:t>
                      </a:r>
                      <a:endParaRPr lang="zh-CN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945104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100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0.1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0.01</a:t>
                      </a:r>
                      <a:r>
                        <a:rPr lang="en-US" altLang="zh-CN" dirty="0"/>
                        <a:t>-</a:t>
                      </a:r>
                      <a:r>
                        <a:rPr lang="zh-CN" altLang="zh-CN" dirty="0"/>
                        <a:t> 0.45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0.003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zh-CN" dirty="0"/>
                        <a:t>0.6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0.20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zh-CN" dirty="0"/>
                        <a:t>0.08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0.8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1</a:t>
                      </a:r>
                      <a:endParaRPr lang="zh-CN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49513840"/>
                  </a:ext>
                </a:extLst>
              </a:tr>
            </a:tbl>
          </a:graphicData>
        </a:graphic>
      </p:graphicFrame>
      <p:sp>
        <p:nvSpPr>
          <p:cNvPr id="5" name="文本框 4">
            <a:extLst>
              <a:ext uri="{FF2B5EF4-FFF2-40B4-BE49-F238E27FC236}">
                <a16:creationId xmlns:a16="http://schemas.microsoft.com/office/drawing/2014/main" id="{772C8C24-68A2-649E-A5DF-17EBF90A26DC}"/>
              </a:ext>
            </a:extLst>
          </p:cNvPr>
          <p:cNvSpPr txBox="1"/>
          <p:nvPr/>
        </p:nvSpPr>
        <p:spPr>
          <a:xfrm>
            <a:off x="287605" y="5597671"/>
            <a:ext cx="933039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/>
              <a:t>freshness_backoff</a:t>
            </a:r>
            <a:r>
              <a:rPr lang="en-US" altLang="zh-CN" dirty="0"/>
              <a:t> | 4.20464 | 16.6379 | 21 | 8.77368 | 5.74849</a:t>
            </a:r>
          </a:p>
          <a:p>
            <a:r>
              <a:rPr lang="en-US" altLang="zh-CN" dirty="0" err="1"/>
              <a:t>orc_freshness_backoff</a:t>
            </a:r>
            <a:r>
              <a:rPr lang="en-US" altLang="zh-CN" dirty="0"/>
              <a:t> | 3.82309 | 15.6568 | 21 | 9.02807 | 5.69959</a:t>
            </a:r>
          </a:p>
          <a:p>
            <a:r>
              <a:rPr lang="en-US" altLang="zh-CN" dirty="0"/>
              <a:t>random | 5.50023 | 20.8347 | 30.1833 | 17.953 | 3.25112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370729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B13212-303A-B5EA-B68A-E93052AA1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A8498155-EF0A-C4CE-5D55-83E0A19121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3930250"/>
              </p:ext>
            </p:extLst>
          </p:nvPr>
        </p:nvGraphicFramePr>
        <p:xfrm>
          <a:off x="287605" y="249409"/>
          <a:ext cx="10741465" cy="101092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654930">
                  <a:extLst>
                    <a:ext uri="{9D8B030D-6E8A-4147-A177-3AD203B41FA5}">
                      <a16:colId xmlns:a16="http://schemas.microsoft.com/office/drawing/2014/main" val="3978037689"/>
                    </a:ext>
                  </a:extLst>
                </a:gridCol>
                <a:gridCol w="896166">
                  <a:extLst>
                    <a:ext uri="{9D8B030D-6E8A-4147-A177-3AD203B41FA5}">
                      <a16:colId xmlns:a16="http://schemas.microsoft.com/office/drawing/2014/main" val="3690039321"/>
                    </a:ext>
                  </a:extLst>
                </a:gridCol>
                <a:gridCol w="1580090">
                  <a:extLst>
                    <a:ext uri="{9D8B030D-6E8A-4147-A177-3AD203B41FA5}">
                      <a16:colId xmlns:a16="http://schemas.microsoft.com/office/drawing/2014/main" val="3306072874"/>
                    </a:ext>
                  </a:extLst>
                </a:gridCol>
                <a:gridCol w="978568">
                  <a:extLst>
                    <a:ext uri="{9D8B030D-6E8A-4147-A177-3AD203B41FA5}">
                      <a16:colId xmlns:a16="http://schemas.microsoft.com/office/drawing/2014/main" val="1637220668"/>
                    </a:ext>
                  </a:extLst>
                </a:gridCol>
                <a:gridCol w="1402776">
                  <a:extLst>
                    <a:ext uri="{9D8B030D-6E8A-4147-A177-3AD203B41FA5}">
                      <a16:colId xmlns:a16="http://schemas.microsoft.com/office/drawing/2014/main" val="1299138137"/>
                    </a:ext>
                  </a:extLst>
                </a:gridCol>
                <a:gridCol w="867696">
                  <a:extLst>
                    <a:ext uri="{9D8B030D-6E8A-4147-A177-3AD203B41FA5}">
                      <a16:colId xmlns:a16="http://schemas.microsoft.com/office/drawing/2014/main" val="3801103070"/>
                    </a:ext>
                  </a:extLst>
                </a:gridCol>
                <a:gridCol w="1692010">
                  <a:extLst>
                    <a:ext uri="{9D8B030D-6E8A-4147-A177-3AD203B41FA5}">
                      <a16:colId xmlns:a16="http://schemas.microsoft.com/office/drawing/2014/main" val="4042415569"/>
                    </a:ext>
                  </a:extLst>
                </a:gridCol>
                <a:gridCol w="1580465">
                  <a:extLst>
                    <a:ext uri="{9D8B030D-6E8A-4147-A177-3AD203B41FA5}">
                      <a16:colId xmlns:a16="http://schemas.microsoft.com/office/drawing/2014/main" val="2047208367"/>
                    </a:ext>
                  </a:extLst>
                </a:gridCol>
                <a:gridCol w="1088764">
                  <a:extLst>
                    <a:ext uri="{9D8B030D-6E8A-4147-A177-3AD203B41FA5}">
                      <a16:colId xmlns:a16="http://schemas.microsoft.com/office/drawing/2014/main" val="41429329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N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zh-CN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update</a:t>
                      </a:r>
                    </a:p>
                    <a:p>
                      <a:pPr algn="ctr"/>
                      <a:r>
                        <a:rPr lang="en-US" altLang="zh-CN" dirty="0"/>
                        <a:t>P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q_min</a:t>
                      </a:r>
                      <a:r>
                        <a:rPr lang="en-US" altLang="zh-CN" dirty="0"/>
                        <a:t>-max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age_</a:t>
                      </a:r>
                      <a:br>
                        <a:rPr lang="en-US" altLang="zh-CN" dirty="0"/>
                      </a:br>
                      <a:r>
                        <a:rPr lang="zh-CN" altLang="zh-CN" dirty="0"/>
                        <a:t>weight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threshold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temperature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congestion_</a:t>
                      </a:r>
                      <a:br>
                        <a:rPr lang="en-US" altLang="zh-CN" dirty="0"/>
                      </a:br>
                      <a:r>
                        <a:rPr lang="zh-CN" altLang="zh-CN" dirty="0"/>
                        <a:t>backoff_weight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attempt_</a:t>
                      </a:r>
                      <a:br>
                        <a:rPr lang="en-US" altLang="zh-CN" dirty="0"/>
                      </a:br>
                      <a:r>
                        <a:rPr lang="zh-CN" altLang="zh-CN" dirty="0"/>
                        <a:t>backoff_factor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curvature_weight</a:t>
                      </a:r>
                      <a:endParaRPr lang="zh-CN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945104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100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0.05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0.01</a:t>
                      </a:r>
                      <a:r>
                        <a:rPr lang="en-US" altLang="zh-CN" dirty="0"/>
                        <a:t>-</a:t>
                      </a:r>
                      <a:r>
                        <a:rPr lang="zh-CN" altLang="zh-CN" dirty="0"/>
                        <a:t> 0.45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0.003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zh-CN" dirty="0"/>
                        <a:t>0.6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0.20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zh-CN" dirty="0"/>
                        <a:t>0.08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0.9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0.75</a:t>
                      </a:r>
                      <a:endParaRPr lang="zh-CN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49513840"/>
                  </a:ext>
                </a:extLst>
              </a:tr>
            </a:tbl>
          </a:graphicData>
        </a:graphic>
      </p:graphicFrame>
      <p:sp>
        <p:nvSpPr>
          <p:cNvPr id="16" name="文本框 15">
            <a:extLst>
              <a:ext uri="{FF2B5EF4-FFF2-40B4-BE49-F238E27FC236}">
                <a16:creationId xmlns:a16="http://schemas.microsoft.com/office/drawing/2014/main" id="{EB1A7E93-CBCD-15B1-B491-3134C6EAB6BB}"/>
              </a:ext>
            </a:extLst>
          </p:cNvPr>
          <p:cNvSpPr txBox="1"/>
          <p:nvPr/>
        </p:nvSpPr>
        <p:spPr>
          <a:xfrm>
            <a:off x="287605" y="1260329"/>
            <a:ext cx="933039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/>
              <a:t>freshness_backoff</a:t>
            </a:r>
            <a:r>
              <a:rPr lang="en-US" altLang="zh-CN" dirty="0"/>
              <a:t> | 2.26661 | 10.7867 | 14.3333 | 7.30632 | 6.29216</a:t>
            </a:r>
          </a:p>
          <a:p>
            <a:r>
              <a:rPr lang="en-US" altLang="zh-CN" dirty="0" err="1"/>
              <a:t>orc_freshness_backoff</a:t>
            </a:r>
            <a:r>
              <a:rPr lang="en-US" altLang="zh-CN" dirty="0"/>
              <a:t> | 2.04306 | 9.53263 | 12.3333 | 7.49018 | 6.2608</a:t>
            </a:r>
          </a:p>
          <a:p>
            <a:r>
              <a:rPr lang="en-US" altLang="zh-CN" dirty="0"/>
              <a:t>random | 2.06997 | 9.85158 | 13 | 10.0119 | 5.32788</a:t>
            </a:r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6DA820E-F5AC-E44E-CE31-58C260CF0D80}"/>
              </a:ext>
            </a:extLst>
          </p:cNvPr>
          <p:cNvSpPr txBox="1"/>
          <p:nvPr/>
        </p:nvSpPr>
        <p:spPr>
          <a:xfrm>
            <a:off x="287605" y="2151378"/>
            <a:ext cx="93303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orc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与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random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性能相近，但所需广播次数更少</a:t>
            </a:r>
          </a:p>
        </p:txBody>
      </p:sp>
    </p:spTree>
    <p:extLst>
      <p:ext uri="{BB962C8B-B14F-4D97-AF65-F5344CB8AC3E}">
        <p14:creationId xmlns:p14="http://schemas.microsoft.com/office/powerpoint/2010/main" val="9364942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C1EFC6-A2C4-7BDC-2F75-A9362C7495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FA958913-5CB1-6B52-1E66-55B21A42F540}"/>
              </a:ext>
            </a:extLst>
          </p:cNvPr>
          <p:cNvSpPr txBox="1"/>
          <p:nvPr/>
        </p:nvSpPr>
        <p:spPr>
          <a:xfrm>
            <a:off x="287606" y="171815"/>
            <a:ext cx="87706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按细胞数划分阶段</a:t>
            </a:r>
            <a:endParaRPr lang="en-US" altLang="zh-CN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7510B520-C687-E5E5-FCDD-7F06BA368500}"/>
                  </a:ext>
                </a:extLst>
              </p:cNvPr>
              <p:cNvSpPr txBox="1"/>
              <p:nvPr/>
            </p:nvSpPr>
            <p:spPr>
              <a:xfrm>
                <a:off x="0" y="7001045"/>
                <a:ext cx="8166107" cy="13431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节点若上一</a:t>
                </a:r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slot</a:t>
                </a: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为发送则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不变；为接收则会更新：</a:t>
                </a:r>
                <a:endParaRPr lang="en-US" altLang="zh-CN" i="1" dirty="0">
                  <a:latin typeface="Cambria Math" panose="02040503050406030204" pitchFamily="18" charset="0"/>
                </a:endParaRPr>
              </a:p>
              <a:p>
                <a:r>
                  <a:rPr lang="en-US" altLang="zh-CN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zh-CN" altLang="en-US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zh-CN" altLang="en-US" i="1">
                        <a:latin typeface="Cambria Math" panose="02040503050406030204" pitchFamily="18" charset="0"/>
                      </a:rPr>
                      <m:t>𝛼</m:t>
                    </m:r>
                    <m:sSub>
                      <m:sSubPr>
                        <m:ctrlPr>
                          <a:rPr lang="zh-CN" alt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zh-CN" altLang="en-US" i="0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  <m:r>
                      <a:rPr lang="zh-CN" altLang="en-US" i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zh-CN" alt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zh-CN" altLang="en-US" i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</m:d>
                    <m:func>
                      <m:funcPr>
                        <m:ctrlPr>
                          <a:rPr lang="zh-CN" alt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zh-CN" altLang="en-US" i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zh-CN" alt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zh-CN" altLang="en-US" i="0">
                                <a:latin typeface="Cambria Math" panose="02040503050406030204" pitchFamily="18" charset="0"/>
                              </a:rPr>
                              <m:t>1+</m:t>
                            </m:r>
                            <m:f>
                              <m:fPr>
                                <m:ctrlPr>
                                  <a:rPr lang="zh-CN" alt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zh-CN" alt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CN" altLang="en-US" i="1"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zh-CN" altLang="en-US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zh-CN" alt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altLang="en-US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num>
                              <m:den>
                                <m:r>
                                  <a:rPr lang="zh-CN" altLang="en-US" i="1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en-US" altLang="zh-CN" dirty="0"/>
              </a:p>
              <a:p>
                <a:r>
                  <a:rPr lang="zh-CN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其中</a:t>
                </a:r>
                <a14:m>
                  <m:oMath xmlns:m="http://schemas.openxmlformats.org/officeDocument/2006/math">
                    <m:r>
                      <a:rPr lang="zh-CN" altLang="en-US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zh-CN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是噪声功率，</a:t>
                </a:r>
                <a14:m>
                  <m:oMath xmlns:m="http://schemas.openxmlformats.org/officeDocument/2006/math">
                    <m:r>
                      <a:rPr lang="zh-CN" altLang="en-US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控制历史平滑程度。</a:t>
                </a:r>
                <a:b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为除最强被接收的广播信号外，其余所有信号的接收功率之和。</a:t>
                </a:r>
                <a:endPara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2966B4C8-5001-41FF-D75B-13FB8D2EA7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7001045"/>
                <a:ext cx="8166107" cy="1343188"/>
              </a:xfrm>
              <a:prstGeom prst="rect">
                <a:avLst/>
              </a:prstGeom>
              <a:blipFill>
                <a:blip r:embed="rId9"/>
                <a:stretch>
                  <a:fillRect l="-597" t="-2262" b="-588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文本框 18">
            <a:extLst>
              <a:ext uri="{FF2B5EF4-FFF2-40B4-BE49-F238E27FC236}">
                <a16:creationId xmlns:a16="http://schemas.microsoft.com/office/drawing/2014/main" id="{08B0E5DF-1A29-7EF7-E40E-37CB66D50633}"/>
              </a:ext>
            </a:extLst>
          </p:cNvPr>
          <p:cNvSpPr txBox="1"/>
          <p:nvPr/>
        </p:nvSpPr>
        <p:spPr>
          <a:xfrm>
            <a:off x="148341" y="3885510"/>
            <a:ext cx="4432537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modularity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从接近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0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升到约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0.65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，表明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较晚阶段出现更清晰的拓扑分区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细胞空间图从早期完全图的高正曲率，逐渐过渡到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后期接近零或轻微负曲率的局部近邻结构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跨社区边的曲率显著低于社区内部边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，负曲率能够识别图结构中的社区边界，其中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hop ORC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表现最好；这种对应关系在早期最清楚，随后逐渐减弱。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1A301422-78E3-F092-777A-C156CD22D4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3924648"/>
              </p:ext>
            </p:extLst>
          </p:nvPr>
        </p:nvGraphicFramePr>
        <p:xfrm>
          <a:off x="287606" y="727147"/>
          <a:ext cx="8596198" cy="1828800"/>
        </p:xfrm>
        <a:graphic>
          <a:graphicData uri="http://schemas.openxmlformats.org/drawingml/2006/table">
            <a:tbl>
              <a:tblPr/>
              <a:tblGrid>
                <a:gridCol w="853280">
                  <a:extLst>
                    <a:ext uri="{9D8B030D-6E8A-4147-A177-3AD203B41FA5}">
                      <a16:colId xmlns:a16="http://schemas.microsoft.com/office/drawing/2014/main" val="74107083"/>
                    </a:ext>
                  </a:extLst>
                </a:gridCol>
                <a:gridCol w="1277824">
                  <a:extLst>
                    <a:ext uri="{9D8B030D-6E8A-4147-A177-3AD203B41FA5}">
                      <a16:colId xmlns:a16="http://schemas.microsoft.com/office/drawing/2014/main" val="3221188133"/>
                    </a:ext>
                  </a:extLst>
                </a:gridCol>
                <a:gridCol w="6465094">
                  <a:extLst>
                    <a:ext uri="{9D8B030D-6E8A-4147-A177-3AD203B41FA5}">
                      <a16:colId xmlns:a16="http://schemas.microsoft.com/office/drawing/2014/main" val="98362819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ctr" latinLnBrk="0">
                        <a:spcBef>
                          <a:spcPts val="750"/>
                        </a:spcBef>
                        <a:spcAft>
                          <a:spcPts val="1125"/>
                        </a:spcAft>
                        <a:buNone/>
                      </a:pPr>
                      <a:r>
                        <a:rPr lang="zh-CN" sz="1200" b="1" i="0" dirty="0">
                          <a:solidFill>
                            <a:srgbClr val="000000"/>
                          </a:solidFill>
                          <a:effectLst/>
                          <a:latin typeface="Helvetica Neue"/>
                        </a:rPr>
                        <a:t>Stage</a:t>
                      </a:r>
                    </a:p>
                  </a:txBody>
                  <a:tcPr marL="99060" marR="99060" anchor="ctr">
                    <a:lnL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latinLnBrk="0">
                        <a:spcBef>
                          <a:spcPts val="750"/>
                        </a:spcBef>
                        <a:spcAft>
                          <a:spcPts val="1125"/>
                        </a:spcAft>
                        <a:buNone/>
                      </a:pPr>
                      <a:r>
                        <a:rPr lang="zh-CN" sz="1200" b="1" i="0" dirty="0">
                          <a:solidFill>
                            <a:srgbClr val="000000"/>
                          </a:solidFill>
                          <a:effectLst/>
                          <a:latin typeface="Helvetica Neue"/>
                        </a:rPr>
                        <a:t>Cell-count interval</a:t>
                      </a:r>
                    </a:p>
                  </a:txBody>
                  <a:tcPr marL="99060" marR="99060" anchor="ctr">
                    <a:lnL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 latinLnBrk="0">
                        <a:spcBef>
                          <a:spcPts val="750"/>
                        </a:spcBef>
                        <a:spcAft>
                          <a:spcPts val="1125"/>
                        </a:spcAft>
                        <a:buNone/>
                      </a:pPr>
                      <a:r>
                        <a:rPr lang="zh-CN" sz="1200" b="1" i="0" dirty="0">
                          <a:solidFill>
                            <a:srgbClr val="000000"/>
                          </a:solidFill>
                          <a:effectLst/>
                          <a:latin typeface="Helvetica Neue"/>
                        </a:rPr>
                        <a:t>Interpretation</a:t>
                      </a:r>
                    </a:p>
                  </a:txBody>
                  <a:tcPr marL="99060" marR="99060" anchor="ctr">
                    <a:lnL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09066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 latinLnBrk="0">
                        <a:spcBef>
                          <a:spcPts val="750"/>
                        </a:spcBef>
                        <a:spcAft>
                          <a:spcPts val="1125"/>
                        </a:spcAft>
                        <a:buNone/>
                      </a:pPr>
                      <a:r>
                        <a:rPr lang="zh-CN" sz="1200" b="0" i="0">
                          <a:solidFill>
                            <a:srgbClr val="333333"/>
                          </a:solidFill>
                          <a:effectLst/>
                          <a:latin typeface="Helvetica Neue"/>
                        </a:rPr>
                        <a:t>S1</a:t>
                      </a:r>
                    </a:p>
                  </a:txBody>
                  <a:tcPr marL="99060" marR="99060" anchor="ctr">
                    <a:lnL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latinLnBrk="0">
                        <a:spcBef>
                          <a:spcPts val="750"/>
                        </a:spcBef>
                        <a:spcAft>
                          <a:spcPts val="1125"/>
                        </a:spcAft>
                        <a:buNone/>
                      </a:pPr>
                      <a:r>
                        <a:rPr lang="zh-CN" sz="1200" b="0" i="0" dirty="0">
                          <a:solidFill>
                            <a:srgbClr val="333333"/>
                          </a:solidFill>
                          <a:effectLst/>
                          <a:latin typeface="Helvetica Neue"/>
                        </a:rPr>
                        <a:t>4–8</a:t>
                      </a:r>
                    </a:p>
                  </a:txBody>
                  <a:tcPr marL="99060" marR="99060" anchor="ctr">
                    <a:lnL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 latinLnBrk="0">
                        <a:spcBef>
                          <a:spcPts val="750"/>
                        </a:spcBef>
                        <a:spcAft>
                          <a:spcPts val="1125"/>
                        </a:spcAft>
                        <a:buNone/>
                      </a:pPr>
                      <a:r>
                        <a:rPr lang="zh-CN" sz="1200" b="0" i="0" dirty="0">
                          <a:solidFill>
                            <a:srgbClr val="333333"/>
                          </a:solidFill>
                          <a:effectLst/>
                          <a:latin typeface="Helvetica Neue"/>
                        </a:rPr>
                        <a:t>Early cleavage; graph is close to or equal to a complete graph</a:t>
                      </a:r>
                    </a:p>
                  </a:txBody>
                  <a:tcPr marL="99060" marR="99060" anchor="ctr">
                    <a:lnL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84361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 latinLnBrk="0">
                        <a:spcBef>
                          <a:spcPts val="750"/>
                        </a:spcBef>
                        <a:spcAft>
                          <a:spcPts val="1125"/>
                        </a:spcAft>
                        <a:buNone/>
                      </a:pPr>
                      <a:r>
                        <a:rPr lang="zh-CN" sz="1200" b="0" i="0">
                          <a:solidFill>
                            <a:srgbClr val="333333"/>
                          </a:solidFill>
                          <a:effectLst/>
                          <a:latin typeface="Helvetica Neue"/>
                        </a:rPr>
                        <a:t>S2</a:t>
                      </a:r>
                    </a:p>
                  </a:txBody>
                  <a:tcPr marL="99060" marR="99060" anchor="ctr">
                    <a:lnL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latinLnBrk="0">
                        <a:spcBef>
                          <a:spcPts val="750"/>
                        </a:spcBef>
                        <a:spcAft>
                          <a:spcPts val="1125"/>
                        </a:spcAft>
                        <a:buNone/>
                      </a:pPr>
                      <a:r>
                        <a:rPr lang="zh-CN" sz="1200" b="0" i="0" dirty="0">
                          <a:solidFill>
                            <a:srgbClr val="333333"/>
                          </a:solidFill>
                          <a:effectLst/>
                          <a:latin typeface="Helvetica Neue"/>
                        </a:rPr>
                        <a:t>9–25</a:t>
                      </a:r>
                    </a:p>
                  </a:txBody>
                  <a:tcPr marL="99060" marR="99060" anchor="ctr">
                    <a:lnL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 latinLnBrk="0">
                        <a:spcBef>
                          <a:spcPts val="750"/>
                        </a:spcBef>
                        <a:spcAft>
                          <a:spcPts val="1125"/>
                        </a:spcAft>
                        <a:buNone/>
                      </a:pPr>
                      <a:r>
                        <a:rPr lang="zh-CN" sz="1200" b="0" i="0" dirty="0">
                          <a:solidFill>
                            <a:srgbClr val="333333"/>
                          </a:solidFill>
                          <a:effectLst/>
                          <a:latin typeface="Helvetica Neue"/>
                        </a:rPr>
                        <a:t>Pre-gastrulation proliferation</a:t>
                      </a:r>
                    </a:p>
                  </a:txBody>
                  <a:tcPr marL="99060" marR="99060" anchor="ctr">
                    <a:lnL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07577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 latinLnBrk="0">
                        <a:spcBef>
                          <a:spcPts val="750"/>
                        </a:spcBef>
                        <a:spcAft>
                          <a:spcPts val="1125"/>
                        </a:spcAft>
                        <a:buNone/>
                      </a:pPr>
                      <a:r>
                        <a:rPr lang="zh-CN" sz="1200" b="0" i="0">
                          <a:solidFill>
                            <a:srgbClr val="333333"/>
                          </a:solidFill>
                          <a:effectLst/>
                          <a:latin typeface="Helvetica Neue"/>
                        </a:rPr>
                        <a:t>S3</a:t>
                      </a:r>
                    </a:p>
                  </a:txBody>
                  <a:tcPr marL="99060" marR="99060" anchor="ctr">
                    <a:lnL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latinLnBrk="0">
                        <a:spcBef>
                          <a:spcPts val="750"/>
                        </a:spcBef>
                        <a:spcAft>
                          <a:spcPts val="1125"/>
                        </a:spcAft>
                        <a:buNone/>
                      </a:pPr>
                      <a:r>
                        <a:rPr lang="zh-CN" sz="1200" b="0" i="0" dirty="0">
                          <a:solidFill>
                            <a:srgbClr val="333333"/>
                          </a:solidFill>
                          <a:effectLst/>
                          <a:latin typeface="Helvetica Neue"/>
                        </a:rPr>
                        <a:t>26–99</a:t>
                      </a:r>
                    </a:p>
                  </a:txBody>
                  <a:tcPr marL="99060" marR="99060" anchor="ctr">
                    <a:lnL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 latinLnBrk="0">
                        <a:spcBef>
                          <a:spcPts val="750"/>
                        </a:spcBef>
                        <a:spcAft>
                          <a:spcPts val="1125"/>
                        </a:spcAft>
                        <a:buNone/>
                      </a:pPr>
                      <a:r>
                        <a:rPr lang="zh-CN" sz="1200" b="0" i="0" dirty="0">
                          <a:solidFill>
                            <a:srgbClr val="333333"/>
                          </a:solidFill>
                          <a:effectLst/>
                          <a:latin typeface="Helvetica Neue"/>
                        </a:rPr>
                        <a:t>Gastrulation onset through early/mid gastrulation</a:t>
                      </a:r>
                    </a:p>
                  </a:txBody>
                  <a:tcPr marL="99060" marR="99060" anchor="ctr">
                    <a:lnL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07979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 latinLnBrk="0">
                        <a:spcBef>
                          <a:spcPts val="750"/>
                        </a:spcBef>
                        <a:spcAft>
                          <a:spcPts val="1125"/>
                        </a:spcAft>
                        <a:buNone/>
                      </a:pPr>
                      <a:r>
                        <a:rPr lang="zh-CN" sz="1200" b="0" i="0">
                          <a:solidFill>
                            <a:srgbClr val="333333"/>
                          </a:solidFill>
                          <a:effectLst/>
                          <a:latin typeface="Helvetica Neue"/>
                        </a:rPr>
                        <a:t>S4</a:t>
                      </a:r>
                    </a:p>
                  </a:txBody>
                  <a:tcPr marL="99060" marR="99060" anchor="ctr">
                    <a:lnL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latinLnBrk="0">
                        <a:spcBef>
                          <a:spcPts val="750"/>
                        </a:spcBef>
                        <a:spcAft>
                          <a:spcPts val="1125"/>
                        </a:spcAft>
                        <a:buNone/>
                      </a:pPr>
                      <a:r>
                        <a:rPr lang="zh-CN" sz="1200" b="0" i="0" dirty="0">
                          <a:solidFill>
                            <a:srgbClr val="333333"/>
                          </a:solidFill>
                          <a:effectLst/>
                          <a:latin typeface="Helvetica Neue"/>
                        </a:rPr>
                        <a:t>100–199</a:t>
                      </a:r>
                    </a:p>
                  </a:txBody>
                  <a:tcPr marL="99060" marR="99060" anchor="ctr">
                    <a:lnL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 latinLnBrk="0">
                        <a:spcBef>
                          <a:spcPts val="750"/>
                        </a:spcBef>
                        <a:spcAft>
                          <a:spcPts val="1125"/>
                        </a:spcAft>
                        <a:buNone/>
                      </a:pPr>
                      <a:r>
                        <a:rPr lang="zh-CN" sz="1200" b="0" i="0" dirty="0">
                          <a:solidFill>
                            <a:srgbClr val="333333"/>
                          </a:solidFill>
                          <a:effectLst/>
                          <a:latin typeface="Helvetica Neue"/>
                        </a:rPr>
                        <a:t>Mid/late gastrulation</a:t>
                      </a:r>
                    </a:p>
                  </a:txBody>
                  <a:tcPr marL="99060" marR="99060" anchor="ctr">
                    <a:lnL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50495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 latinLnBrk="0">
                        <a:spcBef>
                          <a:spcPts val="750"/>
                        </a:spcBef>
                        <a:spcAft>
                          <a:spcPts val="1125"/>
                        </a:spcAft>
                        <a:buNone/>
                      </a:pPr>
                      <a:r>
                        <a:rPr lang="zh-CN" sz="1200" b="0" i="0">
                          <a:solidFill>
                            <a:srgbClr val="333333"/>
                          </a:solidFill>
                          <a:effectLst/>
                          <a:latin typeface="Helvetica Neue"/>
                        </a:rPr>
                        <a:t>S5</a:t>
                      </a:r>
                    </a:p>
                  </a:txBody>
                  <a:tcPr marL="99060" marR="99060" anchor="ctr">
                    <a:lnL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latinLnBrk="0">
                        <a:spcBef>
                          <a:spcPts val="750"/>
                        </a:spcBef>
                        <a:spcAft>
                          <a:spcPts val="1125"/>
                        </a:spcAft>
                        <a:buNone/>
                      </a:pPr>
                      <a:r>
                        <a:rPr lang="zh-CN" sz="1200" b="0" i="0" dirty="0">
                          <a:solidFill>
                            <a:srgbClr val="333333"/>
                          </a:solidFill>
                          <a:effectLst/>
                          <a:latin typeface="Helvetica Neue"/>
                        </a:rPr>
                        <a:t>200–352</a:t>
                      </a:r>
                    </a:p>
                  </a:txBody>
                  <a:tcPr marL="99060" marR="99060" anchor="ctr">
                    <a:lnL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 latinLnBrk="0">
                        <a:spcBef>
                          <a:spcPts val="750"/>
                        </a:spcBef>
                        <a:spcAft>
                          <a:spcPts val="1125"/>
                        </a:spcAft>
                        <a:buNone/>
                      </a:pPr>
                      <a:r>
                        <a:rPr lang="zh-CN" sz="1200" b="0" i="0" dirty="0">
                          <a:solidFill>
                            <a:srgbClr val="333333"/>
                          </a:solidFill>
                          <a:effectLst/>
                          <a:latin typeface="Helvetica Neue"/>
                        </a:rPr>
                        <a:t>Late gastrulation to early tissue-differentiation transition; high-density proliferation</a:t>
                      </a:r>
                    </a:p>
                  </a:txBody>
                  <a:tcPr marL="99060" marR="99060" anchor="ctr">
                    <a:lnL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745013"/>
                  </a:ext>
                </a:extLst>
              </a:tr>
            </a:tbl>
          </a:graphicData>
        </a:graphic>
      </p:graphicFrame>
      <p:sp>
        <p:nvSpPr>
          <p:cNvPr id="3" name="文本框 2">
            <a:extLst>
              <a:ext uri="{FF2B5EF4-FFF2-40B4-BE49-F238E27FC236}">
                <a16:creationId xmlns:a16="http://schemas.microsoft.com/office/drawing/2014/main" id="{663EFE23-69DF-19A6-C380-4A973F1C8FDA}"/>
              </a:ext>
            </a:extLst>
          </p:cNvPr>
          <p:cNvSpPr txBox="1"/>
          <p:nvPr/>
        </p:nvSpPr>
        <p:spPr>
          <a:xfrm>
            <a:off x="287606" y="3389553"/>
            <a:ext cx="87706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结果</a:t>
            </a:r>
            <a:endParaRPr lang="en-US" altLang="zh-CN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63A6F1DB-C510-05F6-A423-13E73F2B406B}"/>
                  </a:ext>
                </a:extLst>
              </p:cNvPr>
              <p:cNvSpPr txBox="1"/>
              <p:nvPr/>
            </p:nvSpPr>
            <p:spPr>
              <a:xfrm>
                <a:off x="148341" y="2694703"/>
                <a:ext cx="1172457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Ø"/>
                </a:pP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抽样的细胞数：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altLang="zh-CN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i="0" dirty="0" smtClean="0">
                            <a:latin typeface="Cambria Math" panose="02040503050406030204" pitchFamily="18" charset="0"/>
                          </a:rPr>
                          <m:t>8,16,26,50,100,200,350</m:t>
                        </m:r>
                      </m:e>
                    </m:d>
                  </m:oMath>
                </a14:m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→ 共</a:t>
                </a:r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40*7=280</a:t>
                </a: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个帧</a:t>
                </a:r>
                <a:endPara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63A6F1DB-C510-05F6-A423-13E73F2B40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341" y="2694703"/>
                <a:ext cx="11724572" cy="369332"/>
              </a:xfrm>
              <a:prstGeom prst="rect">
                <a:avLst/>
              </a:prstGeom>
              <a:blipFill>
                <a:blip r:embed="rId10"/>
                <a:stretch>
                  <a:fillRect l="-312" t="-8197" b="-2459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" name="图片 14">
            <a:extLst>
              <a:ext uri="{FF2B5EF4-FFF2-40B4-BE49-F238E27FC236}">
                <a16:creationId xmlns:a16="http://schemas.microsoft.com/office/drawing/2014/main" id="{D263AFBE-422C-CA58-B152-26084CAA165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636" r="32723"/>
          <a:stretch>
            <a:fillRect/>
          </a:stretch>
        </p:blipFill>
        <p:spPr>
          <a:xfrm>
            <a:off x="9565916" y="3909468"/>
            <a:ext cx="2598873" cy="2561365"/>
          </a:xfrm>
          <a:prstGeom prst="rect">
            <a:avLst/>
          </a:prstGeom>
        </p:spPr>
      </p:pic>
      <p:pic>
        <p:nvPicPr>
          <p:cNvPr id="20" name="图片 19">
            <a:extLst>
              <a:ext uri="{FF2B5EF4-FFF2-40B4-BE49-F238E27FC236}">
                <a16:creationId xmlns:a16="http://schemas.microsoft.com/office/drawing/2014/main" id="{7EEEBC03-1A57-00C8-B187-EA40764CCC54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542114" y="731916"/>
            <a:ext cx="2495872" cy="2615500"/>
          </a:xfrm>
          <a:prstGeom prst="rect">
            <a:avLst/>
          </a:prstGeom>
        </p:spPr>
      </p:pic>
      <p:pic>
        <p:nvPicPr>
          <p:cNvPr id="22" name="图片 21">
            <a:extLst>
              <a:ext uri="{FF2B5EF4-FFF2-40B4-BE49-F238E27FC236}">
                <a16:creationId xmlns:a16="http://schemas.microsoft.com/office/drawing/2014/main" id="{314638B0-D715-36F3-F0C6-029A0EB7434C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2940" y="3961083"/>
            <a:ext cx="4869174" cy="2328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00767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3CDE4E-0290-3729-19D0-E8610F012B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图片 29">
            <a:extLst>
              <a:ext uri="{FF2B5EF4-FFF2-40B4-BE49-F238E27FC236}">
                <a16:creationId xmlns:a16="http://schemas.microsoft.com/office/drawing/2014/main" id="{3476F25D-B205-EC3D-C5A7-66BB17895A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342" y="633480"/>
            <a:ext cx="8057562" cy="6224520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5D7AF626-665A-1D8A-9C8A-D68336FA058C}"/>
              </a:ext>
            </a:extLst>
          </p:cNvPr>
          <p:cNvSpPr txBox="1"/>
          <p:nvPr/>
        </p:nvSpPr>
        <p:spPr>
          <a:xfrm>
            <a:off x="287606" y="171815"/>
            <a:ext cx="87706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细胞曲率示意图</a:t>
            </a:r>
            <a:endParaRPr lang="en-US" altLang="zh-CN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C10BCB2B-F858-84E0-32F0-9973E822AD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2970107"/>
              </p:ext>
            </p:extLst>
          </p:nvPr>
        </p:nvGraphicFramePr>
        <p:xfrm>
          <a:off x="148341" y="7138020"/>
          <a:ext cx="7105650" cy="3017520"/>
        </p:xfrm>
        <a:graphic>
          <a:graphicData uri="http://schemas.openxmlformats.org/drawingml/2006/table">
            <a:tbl>
              <a:tblPr firstRow="1">
                <a:tableStyleId>{1FECB4D8-DB02-4DC6-A0A2-4F2EBAE1DC90}</a:tableStyleId>
              </a:tblPr>
              <a:tblGrid>
                <a:gridCol w="3022355">
                  <a:extLst>
                    <a:ext uri="{9D8B030D-6E8A-4147-A177-3AD203B41FA5}">
                      <a16:colId xmlns:a16="http://schemas.microsoft.com/office/drawing/2014/main" val="1618189516"/>
                    </a:ext>
                  </a:extLst>
                </a:gridCol>
                <a:gridCol w="4083295">
                  <a:extLst>
                    <a:ext uri="{9D8B030D-6E8A-4147-A177-3AD203B41FA5}">
                      <a16:colId xmlns:a16="http://schemas.microsoft.com/office/drawing/2014/main" val="5794789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--metric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含义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778623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mean_kappa_hop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节点关联边的平均 hop ORC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263033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mean_kappa_physical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节点关联边的平均 physical ORC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119082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min_kappa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节点关联边的最小 hop ORC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172609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negative_bottleneck_hop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hop 负曲率的平均强度；无负边时为0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69776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negative_bottleneck_physical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physical 负曲率的平均强度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635748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positive_core_hop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hop 正曲率的平均强度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703227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positive_core_physical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physical 正曲率的平均强度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52895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curvature_variance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节点关联 hop ORC 的方差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4649982"/>
                  </a:ext>
                </a:extLst>
              </a:tr>
            </a:tbl>
          </a:graphicData>
        </a:graphic>
      </p:graphicFrame>
      <p:sp>
        <p:nvSpPr>
          <p:cNvPr id="16" name="文本框 15">
            <a:extLst>
              <a:ext uri="{FF2B5EF4-FFF2-40B4-BE49-F238E27FC236}">
                <a16:creationId xmlns:a16="http://schemas.microsoft.com/office/drawing/2014/main" id="{099A82F8-A67C-E522-82CF-050A4F590367}"/>
              </a:ext>
            </a:extLst>
          </p:cNvPr>
          <p:cNvSpPr txBox="1"/>
          <p:nvPr/>
        </p:nvSpPr>
        <p:spPr>
          <a:xfrm>
            <a:off x="8205904" y="865550"/>
            <a:ext cx="3837756" cy="17054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Community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划分：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依据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XX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划分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后期划分出有多个社区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不知道是否符合线虫发育规律？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7E161630-E21D-414A-9290-277FFC4D0C3E}"/>
              </a:ext>
            </a:extLst>
          </p:cNvPr>
          <p:cNvSpPr txBox="1"/>
          <p:nvPr/>
        </p:nvSpPr>
        <p:spPr>
          <a:xfrm>
            <a:off x="8205904" y="2863101"/>
            <a:ext cx="3837756" cy="8744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曲率：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取</a:t>
            </a:r>
            <a:r>
              <a:rPr lang="zh-CN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节点关联边的平均hop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曲率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9923147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D643F5-AF4F-A289-D661-5A9BC0B260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B4EB8729-4F8D-C3B9-21BA-3A0BB3327AEB}"/>
              </a:ext>
            </a:extLst>
          </p:cNvPr>
          <p:cNvSpPr txBox="1"/>
          <p:nvPr/>
        </p:nvSpPr>
        <p:spPr>
          <a:xfrm>
            <a:off x="287606" y="171815"/>
            <a:ext cx="87706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识别跨胚胎重复的瓶颈细胞</a:t>
            </a:r>
            <a:endParaRPr lang="en-US" altLang="zh-CN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2249BE8-D69A-8459-E536-4632A325BB29}"/>
              </a:ext>
            </a:extLst>
          </p:cNvPr>
          <p:cNvSpPr txBox="1"/>
          <p:nvPr/>
        </p:nvSpPr>
        <p:spPr>
          <a:xfrm>
            <a:off x="287606" y="591442"/>
            <a:ext cx="1182819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zh-CN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observed_recurrence 表示该细胞在多少比例的有效胚胎中，其</a:t>
            </a:r>
            <a:r>
              <a:rPr lang="zh-CN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最小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边</a:t>
            </a:r>
            <a:r>
              <a:rPr lang="zh-CN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曲率</a:t>
            </a:r>
            <a:r>
              <a:rPr lang="zh-CN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位于本帧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全部细胞</a:t>
            </a:r>
            <a:r>
              <a:rPr lang="zh-CN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的</a:t>
            </a:r>
            <a:r>
              <a:rPr lang="zh-CN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最低10%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值越大，说明该名称细胞更容易成为胚胎图的瓶颈节点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CN" altLang="en-US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结果显示：强负曲率瓶颈并非完全随机地落在不同细胞上，确实存在一批跨胚胎重复出现的瓶颈节点。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88D42A9E-C6EF-456B-172B-FA994FBAAD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4992" y="1495296"/>
            <a:ext cx="4704705" cy="5362704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DF741582-A85E-26C6-57EE-31205D6DBC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6878" y="1537334"/>
            <a:ext cx="7248114" cy="3957150"/>
          </a:xfrm>
          <a:prstGeom prst="rect">
            <a:avLst/>
          </a:prstGeom>
        </p:spPr>
      </p:pic>
      <p:sp>
        <p:nvSpPr>
          <p:cNvPr id="12" name="文本框 11">
            <a:extLst>
              <a:ext uri="{FF2B5EF4-FFF2-40B4-BE49-F238E27FC236}">
                <a16:creationId xmlns:a16="http://schemas.microsoft.com/office/drawing/2014/main" id="{48E55860-E5B0-224E-9AA9-E9B03AFCC624}"/>
              </a:ext>
            </a:extLst>
          </p:cNvPr>
          <p:cNvSpPr txBox="1"/>
          <p:nvPr/>
        </p:nvSpPr>
        <p:spPr>
          <a:xfrm>
            <a:off x="186878" y="5485856"/>
            <a:ext cx="760671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图中，点对应</a:t>
            </a:r>
            <a:r>
              <a:rPr lang="zh-CN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observed_recurrence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值；线段是对比模型结果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对比：对一张细胞图随机交换细胞名称，统计各个细胞属于瓶颈的概率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目的：检验细胞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A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的高负曲率重复性，是否明显高于一个随机名称的细胞</a:t>
            </a:r>
          </a:p>
        </p:txBody>
      </p:sp>
    </p:spTree>
    <p:extLst>
      <p:ext uri="{BB962C8B-B14F-4D97-AF65-F5344CB8AC3E}">
        <p14:creationId xmlns:p14="http://schemas.microsoft.com/office/powerpoint/2010/main" val="21343283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F52B9DB5-4F09-5A34-9D9B-4429F6A11779}"/>
              </a:ext>
            </a:extLst>
          </p:cNvPr>
          <p:cNvSpPr txBox="1"/>
          <p:nvPr/>
        </p:nvSpPr>
        <p:spPr>
          <a:xfrm>
            <a:off x="287606" y="171815"/>
            <a:ext cx="87706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识别跨胚胎重复的瓶颈细胞</a:t>
            </a:r>
            <a:endParaRPr lang="en-US" altLang="zh-CN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EB58776-9BBA-2F2B-8053-30EEFAE2F187}"/>
              </a:ext>
            </a:extLst>
          </p:cNvPr>
          <p:cNvSpPr txBox="1"/>
          <p:nvPr/>
        </p:nvSpPr>
        <p:spPr>
          <a:xfrm>
            <a:off x="287606" y="1943154"/>
            <a:ext cx="118281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p"/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代表性瓶颈细胞</a:t>
            </a:r>
            <a:endParaRPr lang="zh-CN" altLang="en-US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9C0D930-2470-7EE5-512C-9EFAF5A673D0}"/>
              </a:ext>
            </a:extLst>
          </p:cNvPr>
          <p:cNvSpPr txBox="1"/>
          <p:nvPr/>
        </p:nvSpPr>
        <p:spPr>
          <a:xfrm>
            <a:off x="7408789" y="2404352"/>
            <a:ext cx="4707011" cy="253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以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target 200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的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Earp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为例：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在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40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个胚胎中存在；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在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35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个胚胎中的边最小曲率处于最低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10%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，重复率为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87.5%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；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随机交换名称后，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null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中位数只有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10%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；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实际高出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null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中位数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77.5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个百分点；</a:t>
            </a:r>
          </a:p>
        </p:txBody>
      </p:sp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EE4C1F8C-8E02-6C6E-1C9C-73D41A9200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2833650"/>
              </p:ext>
            </p:extLst>
          </p:nvPr>
        </p:nvGraphicFramePr>
        <p:xfrm>
          <a:off x="388589" y="2334845"/>
          <a:ext cx="6912000" cy="435134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152000">
                  <a:extLst>
                    <a:ext uri="{9D8B030D-6E8A-4147-A177-3AD203B41FA5}">
                      <a16:colId xmlns:a16="http://schemas.microsoft.com/office/drawing/2014/main" val="3717402996"/>
                    </a:ext>
                  </a:extLst>
                </a:gridCol>
                <a:gridCol w="1152000">
                  <a:extLst>
                    <a:ext uri="{9D8B030D-6E8A-4147-A177-3AD203B41FA5}">
                      <a16:colId xmlns:a16="http://schemas.microsoft.com/office/drawing/2014/main" val="3588162533"/>
                    </a:ext>
                  </a:extLst>
                </a:gridCol>
                <a:gridCol w="1152000">
                  <a:extLst>
                    <a:ext uri="{9D8B030D-6E8A-4147-A177-3AD203B41FA5}">
                      <a16:colId xmlns:a16="http://schemas.microsoft.com/office/drawing/2014/main" val="2063329604"/>
                    </a:ext>
                  </a:extLst>
                </a:gridCol>
                <a:gridCol w="1152000">
                  <a:extLst>
                    <a:ext uri="{9D8B030D-6E8A-4147-A177-3AD203B41FA5}">
                      <a16:colId xmlns:a16="http://schemas.microsoft.com/office/drawing/2014/main" val="1391434646"/>
                    </a:ext>
                  </a:extLst>
                </a:gridCol>
                <a:gridCol w="1152000">
                  <a:extLst>
                    <a:ext uri="{9D8B030D-6E8A-4147-A177-3AD203B41FA5}">
                      <a16:colId xmlns:a16="http://schemas.microsoft.com/office/drawing/2014/main" val="1988281590"/>
                    </a:ext>
                  </a:extLst>
                </a:gridCol>
                <a:gridCol w="1152000">
                  <a:extLst>
                    <a:ext uri="{9D8B030D-6E8A-4147-A177-3AD203B41FA5}">
                      <a16:colId xmlns:a16="http://schemas.microsoft.com/office/drawing/2014/main" val="439796702"/>
                    </a:ext>
                  </a:extLst>
                </a:gridCol>
              </a:tblGrid>
              <a:tr h="31081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 dirty="0"/>
                        <a:t>target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 dirty="0"/>
                        <a:t>细胞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 dirty="0"/>
                        <a:t>覆盖胚胎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 dirty="0"/>
                        <a:t>真实重复率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null中位数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增量</a:t>
                      </a:r>
                    </a:p>
                  </a:txBody>
                  <a:tcPr marL="77702" marR="77702" marT="38851" marB="38851" anchor="ctr"/>
                </a:tc>
                <a:extLst>
                  <a:ext uri="{0D108BD9-81ED-4DB2-BD59-A6C34878D82A}">
                    <a16:rowId xmlns:a16="http://schemas.microsoft.com/office/drawing/2014/main" val="3990710291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 dirty="0"/>
                        <a:t>16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 dirty="0"/>
                        <a:t>ABpra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 dirty="0"/>
                        <a:t>39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0.436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0.128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0.308</a:t>
                      </a:r>
                    </a:p>
                  </a:txBody>
                  <a:tcPr marL="77702" marR="77702" marT="38851" marB="38851" anchor="ctr"/>
                </a:tc>
                <a:extLst>
                  <a:ext uri="{0D108BD9-81ED-4DB2-BD59-A6C34878D82A}">
                    <a16:rowId xmlns:a16="http://schemas.microsoft.com/office/drawing/2014/main" val="3135500715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 dirty="0"/>
                        <a:t>26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ABarap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 dirty="0"/>
                        <a:t>40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0.450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0.150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0.300</a:t>
                      </a:r>
                    </a:p>
                  </a:txBody>
                  <a:tcPr marL="77702" marR="77702" marT="38851" marB="38851" anchor="ctr"/>
                </a:tc>
                <a:extLst>
                  <a:ext uri="{0D108BD9-81ED-4DB2-BD59-A6C34878D82A}">
                    <a16:rowId xmlns:a16="http://schemas.microsoft.com/office/drawing/2014/main" val="2963144994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26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MSpp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 dirty="0"/>
                        <a:t>40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0.450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0.150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0.300</a:t>
                      </a:r>
                    </a:p>
                  </a:txBody>
                  <a:tcPr marL="77702" marR="77702" marT="38851" marB="38851" anchor="ctr"/>
                </a:tc>
                <a:extLst>
                  <a:ext uri="{0D108BD9-81ED-4DB2-BD59-A6C34878D82A}">
                    <a16:rowId xmlns:a16="http://schemas.microsoft.com/office/drawing/2014/main" val="986519665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50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Ear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 dirty="0"/>
                        <a:t>40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 dirty="0"/>
                        <a:t>0.575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0.100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0.475</a:t>
                      </a:r>
                    </a:p>
                  </a:txBody>
                  <a:tcPr marL="77702" marR="77702" marT="38851" marB="38851" anchor="ctr"/>
                </a:tc>
                <a:extLst>
                  <a:ext uri="{0D108BD9-81ED-4DB2-BD59-A6C34878D82A}">
                    <a16:rowId xmlns:a16="http://schemas.microsoft.com/office/drawing/2014/main" val="899246114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100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Eala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 dirty="0"/>
                        <a:t>39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 dirty="0"/>
                        <a:t>0.795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0.103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0.692</a:t>
                      </a:r>
                    </a:p>
                  </a:txBody>
                  <a:tcPr marL="77702" marR="77702" marT="38851" marB="38851" anchor="ctr"/>
                </a:tc>
                <a:extLst>
                  <a:ext uri="{0D108BD9-81ED-4DB2-BD59-A6C34878D82A}">
                    <a16:rowId xmlns:a16="http://schemas.microsoft.com/office/drawing/2014/main" val="2314626885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 dirty="0"/>
                        <a:t>200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 b="1" dirty="0">
                          <a:highlight>
                            <a:srgbClr val="FFFF00"/>
                          </a:highlight>
                        </a:rPr>
                        <a:t>Earp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 dirty="0"/>
                        <a:t>40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 dirty="0"/>
                        <a:t>0.875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 dirty="0"/>
                        <a:t>0.100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 dirty="0"/>
                        <a:t>0.775</a:t>
                      </a:r>
                    </a:p>
                  </a:txBody>
                  <a:tcPr marL="77702" marR="77702" marT="38851" marB="38851" anchor="ctr"/>
                </a:tc>
                <a:extLst>
                  <a:ext uri="{0D108BD9-81ED-4DB2-BD59-A6C34878D82A}">
                    <a16:rowId xmlns:a16="http://schemas.microsoft.com/office/drawing/2014/main" val="1626029409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200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Eala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40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 dirty="0"/>
                        <a:t>0.725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 dirty="0"/>
                        <a:t>0.100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0.625</a:t>
                      </a:r>
                    </a:p>
                  </a:txBody>
                  <a:tcPr marL="77702" marR="77702" marT="38851" marB="38851" anchor="ctr"/>
                </a:tc>
                <a:extLst>
                  <a:ext uri="{0D108BD9-81ED-4DB2-BD59-A6C34878D82A}">
                    <a16:rowId xmlns:a16="http://schemas.microsoft.com/office/drawing/2014/main" val="2152112680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200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Ealp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40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0.725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 dirty="0"/>
                        <a:t>0.100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0.625</a:t>
                      </a:r>
                    </a:p>
                  </a:txBody>
                  <a:tcPr marL="77702" marR="77702" marT="38851" marB="38851" anchor="ctr"/>
                </a:tc>
                <a:extLst>
                  <a:ext uri="{0D108BD9-81ED-4DB2-BD59-A6C34878D82A}">
                    <a16:rowId xmlns:a16="http://schemas.microsoft.com/office/drawing/2014/main" val="784356228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350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Earpp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34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0.853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0.088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 dirty="0"/>
                        <a:t>0.765</a:t>
                      </a:r>
                    </a:p>
                  </a:txBody>
                  <a:tcPr marL="77702" marR="77702" marT="38851" marB="38851" anchor="ctr"/>
                </a:tc>
                <a:extLst>
                  <a:ext uri="{0D108BD9-81ED-4DB2-BD59-A6C34878D82A}">
                    <a16:rowId xmlns:a16="http://schemas.microsoft.com/office/drawing/2014/main" val="1859007455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350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P4a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 dirty="0"/>
                        <a:t>25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 dirty="0"/>
                        <a:t>0.800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 dirty="0"/>
                        <a:t>0.080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 dirty="0"/>
                        <a:t>0.720</a:t>
                      </a:r>
                    </a:p>
                  </a:txBody>
                  <a:tcPr marL="77702" marR="77702" marT="38851" marB="38851" anchor="ctr"/>
                </a:tc>
                <a:extLst>
                  <a:ext uri="{0D108BD9-81ED-4DB2-BD59-A6C34878D82A}">
                    <a16:rowId xmlns:a16="http://schemas.microsoft.com/office/drawing/2014/main" val="1716459391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350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P4p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20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0.800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0.100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 dirty="0"/>
                        <a:t>0.700</a:t>
                      </a:r>
                    </a:p>
                  </a:txBody>
                  <a:tcPr marL="77702" marR="77702" marT="38851" marB="38851" anchor="ctr"/>
                </a:tc>
                <a:extLst>
                  <a:ext uri="{0D108BD9-81ED-4DB2-BD59-A6C34878D82A}">
                    <a16:rowId xmlns:a16="http://schemas.microsoft.com/office/drawing/2014/main" val="176201083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350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Earpa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34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0.765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0.088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 dirty="0"/>
                        <a:t>0.676</a:t>
                      </a:r>
                    </a:p>
                  </a:txBody>
                  <a:tcPr marL="77702" marR="77702" marT="38851" marB="38851" anchor="ctr"/>
                </a:tc>
                <a:extLst>
                  <a:ext uri="{0D108BD9-81ED-4DB2-BD59-A6C34878D82A}">
                    <a16:rowId xmlns:a16="http://schemas.microsoft.com/office/drawing/2014/main" val="3229557719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 dirty="0"/>
                        <a:t>350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 dirty="0"/>
                        <a:t>Capaa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34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0.735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 dirty="0"/>
                        <a:t>0.088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 dirty="0"/>
                        <a:t>0.647</a:t>
                      </a:r>
                    </a:p>
                  </a:txBody>
                  <a:tcPr marL="77702" marR="77702" marT="38851" marB="38851" anchor="ctr"/>
                </a:tc>
                <a:extLst>
                  <a:ext uri="{0D108BD9-81ED-4DB2-BD59-A6C34878D82A}">
                    <a16:rowId xmlns:a16="http://schemas.microsoft.com/office/drawing/2014/main" val="4237436106"/>
                  </a:ext>
                </a:extLst>
              </a:tr>
            </a:tbl>
          </a:graphicData>
        </a:graphic>
      </p:graphicFrame>
      <p:sp>
        <p:nvSpPr>
          <p:cNvPr id="16" name="文本框 15">
            <a:extLst>
              <a:ext uri="{FF2B5EF4-FFF2-40B4-BE49-F238E27FC236}">
                <a16:creationId xmlns:a16="http://schemas.microsoft.com/office/drawing/2014/main" id="{1312354D-091F-D121-2266-6178C935F74A}"/>
              </a:ext>
            </a:extLst>
          </p:cNvPr>
          <p:cNvSpPr txBox="1"/>
          <p:nvPr/>
        </p:nvSpPr>
        <p:spPr>
          <a:xfrm>
            <a:off x="287606" y="561383"/>
            <a:ext cx="11616788" cy="12899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共</a:t>
            </a:r>
            <a:r>
              <a:rPr lang="zh-CN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794条“目标细胞数—细胞名称”记录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在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bottom-10%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主分析下，共有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131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个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null A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下的重复瓶颈候选：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2/5/8/20/29/67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个，分别对应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target 16/26/50/100/200/350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。覆盖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116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个不同的细胞名称；其中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128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条记录覆盖至少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8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个胚胎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7740306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810BDD-DB45-3B4C-6205-B9E4AE7F14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677132BB-AB05-0A99-2670-CE8774EE0C39}"/>
              </a:ext>
            </a:extLst>
          </p:cNvPr>
          <p:cNvSpPr txBox="1"/>
          <p:nvPr/>
        </p:nvSpPr>
        <p:spPr>
          <a:xfrm>
            <a:off x="287606" y="171815"/>
            <a:ext cx="87706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识别跨胚胎重复的瓶颈细胞</a:t>
            </a:r>
            <a:endParaRPr lang="en-US" altLang="zh-CN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F29761D-396B-0134-053B-84A11F5CABC2}"/>
              </a:ext>
            </a:extLst>
          </p:cNvPr>
          <p:cNvSpPr txBox="1"/>
          <p:nvPr/>
        </p:nvSpPr>
        <p:spPr>
          <a:xfrm>
            <a:off x="287606" y="776996"/>
            <a:ext cx="118281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p"/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在粗谱系名称上的分布</a:t>
            </a:r>
            <a:endParaRPr lang="zh-CN" altLang="en-US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F619A6E-B8A4-9BA0-FBCA-FD0AFD510C67}"/>
              </a:ext>
            </a:extLst>
          </p:cNvPr>
          <p:cNvSpPr txBox="1"/>
          <p:nvPr/>
        </p:nvSpPr>
        <p:spPr>
          <a:xfrm>
            <a:off x="4132189" y="1380907"/>
            <a:ext cx="7282571" cy="21209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尤其在晚期：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target 100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E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前缀细胞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10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个中有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8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个入选；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target 200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E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前缀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8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个全部入选，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12/32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AB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只有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5/148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；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target 350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E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15/21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32/50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AB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只有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7/257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；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P4a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P4p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在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target 200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350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均表现突出。</a:t>
            </a: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0E188E58-E855-2FD3-25BA-BE5623DD03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1764768"/>
              </p:ext>
            </p:extLst>
          </p:nvPr>
        </p:nvGraphicFramePr>
        <p:xfrm>
          <a:off x="777240" y="1269147"/>
          <a:ext cx="2952000" cy="2560320"/>
        </p:xfrm>
        <a:graphic>
          <a:graphicData uri="http://schemas.openxmlformats.org/drawingml/2006/table">
            <a:tbl>
              <a:tblPr firstRow="1" bandRow="1">
                <a:tableStyleId>{1FECB4D8-DB02-4DC6-A0A2-4F2EBAE1DC90}</a:tableStyleId>
              </a:tblPr>
              <a:tblGrid>
                <a:gridCol w="1476000">
                  <a:extLst>
                    <a:ext uri="{9D8B030D-6E8A-4147-A177-3AD203B41FA5}">
                      <a16:colId xmlns:a16="http://schemas.microsoft.com/office/drawing/2014/main" val="3691461043"/>
                    </a:ext>
                  </a:extLst>
                </a:gridCol>
                <a:gridCol w="1476000">
                  <a:extLst>
                    <a:ext uri="{9D8B030D-6E8A-4147-A177-3AD203B41FA5}">
                      <a16:colId xmlns:a16="http://schemas.microsoft.com/office/drawing/2014/main" val="191963582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/>
                        <a:t>名称前缀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/>
                        <a:t>候选记录数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374135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/>
                        <a:t>MS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dirty="0"/>
                        <a:t>56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948956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/>
                        <a:t>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/>
                        <a:t>34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133081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dirty="0"/>
                        <a:t>AB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/>
                        <a:t>22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588432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/>
                        <a:t>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/>
                        <a:t>11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70969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/>
                        <a:t>P4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/>
                        <a:t>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34756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/>
                        <a:t>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dirty="0"/>
                        <a:t>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46117214"/>
                  </a:ext>
                </a:extLst>
              </a:tr>
            </a:tbl>
          </a:graphicData>
        </a:graphic>
      </p:graphicFrame>
      <p:sp>
        <p:nvSpPr>
          <p:cNvPr id="3" name="文本框 2">
            <a:extLst>
              <a:ext uri="{FF2B5EF4-FFF2-40B4-BE49-F238E27FC236}">
                <a16:creationId xmlns:a16="http://schemas.microsoft.com/office/drawing/2014/main" id="{C5413FD5-9D39-AD49-B4EF-81D93C0CF906}"/>
              </a:ext>
            </a:extLst>
          </p:cNvPr>
          <p:cNvSpPr txBox="1"/>
          <p:nvPr/>
        </p:nvSpPr>
        <p:spPr>
          <a:xfrm>
            <a:off x="287606" y="4375601"/>
            <a:ext cx="10410874" cy="17054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共有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14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个名称在至少两个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target_cell_count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中重复成为候选，比较值得关注：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Earp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target 100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200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350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；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Eala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Ealp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Eara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Epla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Epra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target 100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200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；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P4a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P4p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target 200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350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；</a:t>
            </a:r>
          </a:p>
        </p:txBody>
      </p:sp>
    </p:spTree>
    <p:extLst>
      <p:ext uri="{BB962C8B-B14F-4D97-AF65-F5344CB8AC3E}">
        <p14:creationId xmlns:p14="http://schemas.microsoft.com/office/powerpoint/2010/main" val="6795592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5522</TotalTime>
  <Words>2267</Words>
  <Application>Microsoft Office PowerPoint</Application>
  <PresentationFormat>宽屏</PresentationFormat>
  <Paragraphs>389</Paragraphs>
  <Slides>13</Slides>
  <Notes>5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21" baseType="lpstr">
      <vt:lpstr>Helvetica Neue</vt:lpstr>
      <vt:lpstr>等线</vt:lpstr>
      <vt:lpstr>等线 Light</vt:lpstr>
      <vt:lpstr>微软雅黑</vt:lpstr>
      <vt:lpstr>Arial</vt:lpstr>
      <vt:lpstr>Cambria Math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张梦菲</dc:creator>
  <cp:lastModifiedBy>张梦菲</cp:lastModifiedBy>
  <cp:revision>38</cp:revision>
  <dcterms:created xsi:type="dcterms:W3CDTF">2026-07-15T14:54:06Z</dcterms:created>
  <dcterms:modified xsi:type="dcterms:W3CDTF">2026-07-23T07:09:10Z</dcterms:modified>
</cp:coreProperties>
</file>